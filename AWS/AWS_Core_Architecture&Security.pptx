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7" r:id="rId2"/>
    <p:sldId id="260" r:id="rId3"/>
    <p:sldId id="262" r:id="rId4"/>
    <p:sldId id="313" r:id="rId5"/>
    <p:sldId id="264" r:id="rId6"/>
    <p:sldId id="297" r:id="rId7"/>
    <p:sldId id="265" r:id="rId8"/>
    <p:sldId id="314" r:id="rId9"/>
    <p:sldId id="316" r:id="rId10"/>
    <p:sldId id="317" r:id="rId11"/>
    <p:sldId id="298" r:id="rId12"/>
    <p:sldId id="301" r:id="rId13"/>
    <p:sldId id="267" r:id="rId14"/>
    <p:sldId id="268" r:id="rId15"/>
    <p:sldId id="269" r:id="rId16"/>
    <p:sldId id="300" r:id="rId17"/>
    <p:sldId id="302" r:id="rId18"/>
    <p:sldId id="270" r:id="rId19"/>
    <p:sldId id="271" r:id="rId20"/>
    <p:sldId id="318" r:id="rId21"/>
    <p:sldId id="319" r:id="rId22"/>
    <p:sldId id="320" r:id="rId23"/>
    <p:sldId id="321" r:id="rId24"/>
    <p:sldId id="322" r:id="rId25"/>
    <p:sldId id="277" r:id="rId26"/>
    <p:sldId id="303" r:id="rId27"/>
    <p:sldId id="278" r:id="rId28"/>
    <p:sldId id="279" r:id="rId29"/>
    <p:sldId id="280" r:id="rId30"/>
    <p:sldId id="281" r:id="rId31"/>
    <p:sldId id="325" r:id="rId32"/>
    <p:sldId id="282" r:id="rId33"/>
    <p:sldId id="283" r:id="rId34"/>
    <p:sldId id="304" r:id="rId35"/>
    <p:sldId id="305" r:id="rId36"/>
    <p:sldId id="306" r:id="rId37"/>
    <p:sldId id="308" r:id="rId38"/>
    <p:sldId id="323" r:id="rId39"/>
    <p:sldId id="285" r:id="rId40"/>
    <p:sldId id="307" r:id="rId41"/>
    <p:sldId id="309" r:id="rId42"/>
    <p:sldId id="286" r:id="rId43"/>
    <p:sldId id="324" r:id="rId44"/>
    <p:sldId id="287" r:id="rId45"/>
    <p:sldId id="310" r:id="rId46"/>
    <p:sldId id="289" r:id="rId47"/>
    <p:sldId id="288" r:id="rId48"/>
    <p:sldId id="311" r:id="rId49"/>
    <p:sldId id="291" r:id="rId50"/>
    <p:sldId id="290" r:id="rId51"/>
    <p:sldId id="292" r:id="rId52"/>
    <p:sldId id="293" r:id="rId53"/>
    <p:sldId id="29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70" d="100"/>
          <a:sy n="70" d="100"/>
        </p:scale>
        <p:origin x="652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FA4E-CB4E-DB55-97C9-3C9AFF33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D89F2-C4B1-381E-66A0-109E7D6F2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CF05C-BB1C-7321-A175-BF6C6AA6D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21722-2CE5-2409-4361-EC702D221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550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93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bout-aws/global-infrastructur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Core Architecture &amp; Security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486" y="2068286"/>
            <a:ext cx="78232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 Global Infrastructure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I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hierarchy: Regions -&gt; AZs -&gt; Edge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informed decisions about region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global reach and resilience of AWS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Global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1" y="1403424"/>
            <a:ext cx="4746172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🌍 1. Regions: Geographic areas with multiple AZs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38 regions worldwide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Each region is completely isolated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Designed for high availability, fault isolation, data residency.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Data doesn't leave a region unless you explicitly move it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Examples: us-east-1, eu-west-1, ap-southeast-1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AC067-5A53-7060-D0B9-324577762F7F}"/>
              </a:ext>
            </a:extLst>
          </p:cNvPr>
          <p:cNvSpPr txBox="1"/>
          <p:nvPr/>
        </p:nvSpPr>
        <p:spPr>
          <a:xfrm>
            <a:off x="903516" y="4587672"/>
            <a:ext cx="730779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📍 3. Edge Locations / CDN (Content Delivery Network) endpoints for CloudFront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400+ edge locations globally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Cache content closer to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Reduce latency for end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Separate from Regions and AZs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DBF54-38A3-5CA3-21C4-E60E087E4697}"/>
              </a:ext>
            </a:extLst>
          </p:cNvPr>
          <p:cNvSpPr txBox="1"/>
          <p:nvPr/>
        </p:nvSpPr>
        <p:spPr>
          <a:xfrm>
            <a:off x="6487888" y="1403424"/>
            <a:ext cx="5225140" cy="3067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🏢 2. Availability Zones (AZs): Isolated data centers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2-6 AZs per region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Connected via low-latency links, high-throughput, redundant fiber networks.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Physically separated for resilience</a:t>
            </a:r>
            <a:br>
              <a:rPr lang="en-US" sz="1600" dirty="0"/>
            </a:br>
            <a:r>
              <a:rPr lang="en-US" sz="1600" dirty="0"/>
              <a:t>Isolated infrastructure with distance from 50-100km apart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Carefully engineered to be away from natural calamity like flood, lightning, tornado, etc.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IN" sz="1600" dirty="0">
                <a:solidFill>
                  <a:srgbClr val="232F3E"/>
                </a:solidFill>
              </a:rPr>
              <a:t>Example: us-east-1a, us-east-1b, us-east-1c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6142-78C5-E575-D2F8-670B528D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CEC3D-BE6B-D2CF-A777-342C26A120A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86163-D5FA-70E2-0983-5B0F33A0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2" y="920652"/>
            <a:ext cx="7558919" cy="547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Choosing the Right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061700"/>
            <a:ext cx="10776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The 4 Cs of Region Selection: </a:t>
            </a: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Consider all factors for optimal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2" y="2002968"/>
            <a:ext cx="5246913" cy="3850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1️⃣ Compliance &amp; Data Sovereignty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GDPR</a:t>
            </a:r>
            <a:r>
              <a:rPr lang="en-US" sz="1600" dirty="0"/>
              <a:t> requires EU data to stay in EU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Healthcare data regulations (HIPAA)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Government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2️⃣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Pricing</a:t>
            </a:r>
            <a:r>
              <a:rPr lang="en-US" sz="1600" dirty="0"/>
              <a:t> varies by region (up to 30% difference)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us-east-1 is typically cheapest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Quick Check: </a:t>
            </a:r>
            <a:r>
              <a:rPr lang="en-US" sz="1600" dirty="0"/>
              <a:t>Do pricing comparison for EC2 instances in North Virginia vs Mumbai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600DC-7CA1-9C46-DC30-D4DFBCA187E1}"/>
              </a:ext>
            </a:extLst>
          </p:cNvPr>
          <p:cNvSpPr txBox="1"/>
          <p:nvPr/>
        </p:nvSpPr>
        <p:spPr>
          <a:xfrm>
            <a:off x="6487885" y="2002968"/>
            <a:ext cx="5246913" cy="419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3️⃣ Closeness (Latency)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Rule of thumb</a:t>
            </a:r>
            <a:r>
              <a:rPr lang="en-US" sz="1600" dirty="0"/>
              <a:t>: ~1ms per 100km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Demo: Ping different regions from your location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Use case: Gaming needs &lt;50ms latency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4️⃣ Capacity (Service Availability)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Not all services </a:t>
            </a:r>
            <a:r>
              <a:rPr lang="en-US" sz="1600" b="1" dirty="0"/>
              <a:t>available</a:t>
            </a:r>
            <a:r>
              <a:rPr lang="en-US" sz="1600" dirty="0"/>
              <a:t> in all regions</a:t>
            </a:r>
            <a:endParaRPr sz="1600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New services launch in us-east-1 first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Check AWS Regional Services list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3ABD-CDFE-468A-71A1-775989AA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CBD49-4F8A-5A0E-D9DC-53AB1CF12AB0}"/>
              </a:ext>
            </a:extLst>
          </p:cNvPr>
          <p:cNvSpPr txBox="1"/>
          <p:nvPr/>
        </p:nvSpPr>
        <p:spPr>
          <a:xfrm>
            <a:off x="794657" y="306979"/>
            <a:ext cx="1006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790A-5A6E-D622-522F-1ADDBB7B4207}"/>
              </a:ext>
            </a:extLst>
          </p:cNvPr>
          <p:cNvSpPr txBox="1"/>
          <p:nvPr/>
        </p:nvSpPr>
        <p:spPr>
          <a:xfrm>
            <a:off x="794657" y="1151709"/>
            <a:ext cx="10450285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IN" sz="1600" dirty="0"/>
              <a:t>Visit: </a:t>
            </a:r>
            <a:r>
              <a:rPr lang="en-IN" sz="1600" dirty="0">
                <a:hlinkClick r:id="rId3"/>
              </a:rPr>
              <a:t>https://aws.amazon.com/about-aws/global-infrastructure/</a:t>
            </a:r>
            <a:endParaRPr lang="en-IN" sz="1600" dirty="0"/>
          </a:p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Identify the closest AWS Regions to your geography.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List the number of Availability Zones (AZs) in each selected Region.</a:t>
            </a:r>
          </a:p>
          <a:p>
            <a:endParaRPr lang="en-IN" sz="1600" dirty="0"/>
          </a:p>
          <a:p>
            <a:r>
              <a:rPr lang="en-US" sz="1600" b="1" dirty="0"/>
              <a:t>Discussion Questions</a:t>
            </a:r>
          </a:p>
          <a:p>
            <a:pPr marL="342900" indent="-342900">
              <a:buAutoNum type="arabicPeriod"/>
            </a:pPr>
            <a:r>
              <a:rPr lang="en-US" sz="1600" b="1" dirty="0"/>
              <a:t>Why do some Regions have more AZs than others?</a:t>
            </a:r>
          </a:p>
          <a:p>
            <a:r>
              <a:rPr lang="en-US" sz="1600" b="1" dirty="0"/>
              <a:t>Ans: - </a:t>
            </a:r>
            <a:r>
              <a:rPr lang="en-US" sz="1600" dirty="0"/>
              <a:t>Customer Demand -&gt; you would need more workload to be running on us-east-1, more infra</a:t>
            </a:r>
          </a:p>
          <a:p>
            <a:r>
              <a:rPr lang="en-US" sz="1600" dirty="0"/>
              <a:t>Cost low -&gt; more customer demand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Choose Primary &amp; Secondary Regions - Justify Your Choice</a:t>
            </a:r>
          </a:p>
          <a:p>
            <a:r>
              <a:rPr lang="en-US" sz="1600" b="1" dirty="0"/>
              <a:t>Scenario:</a:t>
            </a:r>
            <a:br>
              <a:rPr lang="en-US" sz="1600" dirty="0"/>
            </a:br>
            <a:r>
              <a:rPr lang="en-US" sz="1600" dirty="0"/>
              <a:t>You are deploying an </a:t>
            </a:r>
            <a:r>
              <a:rPr lang="en-US" sz="1600" b="1" dirty="0"/>
              <a:t>e-commerce application</a:t>
            </a:r>
            <a:r>
              <a:rPr lang="en-US" sz="1600" dirty="0"/>
              <a:t> with the following constraints:</a:t>
            </a:r>
          </a:p>
          <a:p>
            <a:r>
              <a:rPr lang="en-US" sz="1600" b="1" dirty="0"/>
              <a:t>Customer distribution:</a:t>
            </a:r>
            <a:endParaRPr lang="en-US" sz="1600" dirty="0"/>
          </a:p>
          <a:p>
            <a:pPr lvl="1"/>
            <a:r>
              <a:rPr lang="en-US" sz="1600" dirty="0"/>
              <a:t>60% Europe</a:t>
            </a:r>
          </a:p>
          <a:p>
            <a:pPr lvl="1"/>
            <a:r>
              <a:rPr lang="en-US" sz="1600" dirty="0"/>
              <a:t>30% US</a:t>
            </a:r>
          </a:p>
          <a:p>
            <a:pPr lvl="1"/>
            <a:r>
              <a:rPr lang="en-US" sz="1600" dirty="0"/>
              <a:t>10% Asia</a:t>
            </a:r>
          </a:p>
          <a:p>
            <a:r>
              <a:rPr lang="en-US" sz="1600" b="1" dirty="0"/>
              <a:t>Compliance:</a:t>
            </a:r>
            <a:r>
              <a:rPr lang="en-US" sz="1600" dirty="0"/>
              <a:t> Must comply with </a:t>
            </a:r>
            <a:r>
              <a:rPr lang="en-US" sz="1600" b="1" dirty="0"/>
              <a:t>GDPR</a:t>
            </a:r>
            <a:endParaRPr lang="en-US" sz="1600" dirty="0"/>
          </a:p>
          <a:p>
            <a:r>
              <a:rPr lang="en-US" sz="1600" b="1" dirty="0"/>
              <a:t>Company size:</a:t>
            </a:r>
            <a:r>
              <a:rPr lang="en-US" sz="1600" dirty="0"/>
              <a:t> Budget-conscious startup</a:t>
            </a:r>
          </a:p>
          <a:p>
            <a:r>
              <a:rPr lang="en-US" sz="1600" b="1" dirty="0"/>
              <a:t>Services required:</a:t>
            </a:r>
            <a:r>
              <a:rPr lang="en-US" sz="1600" dirty="0"/>
              <a:t> </a:t>
            </a:r>
            <a:r>
              <a:rPr lang="en-US" sz="1600" b="1" dirty="0"/>
              <a:t>EC2, RDS, S3, Lambda (but we will include </a:t>
            </a:r>
            <a:r>
              <a:rPr lang="en-US" sz="1600" b="1" dirty="0" err="1"/>
              <a:t>cloudfront</a:t>
            </a:r>
            <a:r>
              <a:rPr lang="en-US" sz="1600" b="1" dirty="0"/>
              <a:t> for CDN as well)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198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971" y="274321"/>
            <a:ext cx="69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Region Selection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28367"/>
            <a:ext cx="51598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✅ Good Region Choices</a:t>
            </a:r>
          </a:p>
          <a:p>
            <a:endParaRPr lang="en-US" sz="1600" b="1" dirty="0"/>
          </a:p>
          <a:p>
            <a:r>
              <a:rPr lang="en-US" sz="1600" b="1" dirty="0"/>
              <a:t>1. E-commerce platform - Majority EU customers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eu-west-1</a:t>
            </a:r>
            <a:r>
              <a:rPr lang="en-US" sz="1600" dirty="0"/>
              <a:t> (Ireland) or </a:t>
            </a:r>
            <a:r>
              <a:rPr lang="en-US" dirty="0"/>
              <a:t>eu-central-1</a:t>
            </a:r>
            <a:r>
              <a:rPr lang="en-US" sz="1600" dirty="0"/>
              <a:t> (Frankfurt)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Meets </a:t>
            </a:r>
            <a:r>
              <a:rPr lang="en-US" sz="1600" b="1" dirty="0"/>
              <a:t>GDPR</a:t>
            </a:r>
            <a:r>
              <a:rPr lang="en-US" sz="1600" dirty="0"/>
              <a:t> data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 latency to European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Mature regions with 3+ AZs</a:t>
            </a:r>
          </a:p>
          <a:p>
            <a:endParaRPr lang="en-US" sz="1600" dirty="0"/>
          </a:p>
          <a:p>
            <a:r>
              <a:rPr lang="en-US" sz="1600" b="1" dirty="0"/>
              <a:t>2. Global Gaming / Realtime App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Nearest Region to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</a:t>
            </a:r>
            <a:r>
              <a:rPr lang="en-US" sz="1600" b="1" dirty="0"/>
              <a:t>latency</a:t>
            </a:r>
            <a:r>
              <a:rPr lang="en-US" sz="1600" dirty="0"/>
              <a:t> over everything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Regions like </a:t>
            </a:r>
            <a:r>
              <a:rPr lang="en-US" dirty="0"/>
              <a:t>ap-southeast-1</a:t>
            </a:r>
            <a:r>
              <a:rPr lang="en-US" sz="1600" dirty="0"/>
              <a:t>, </a:t>
            </a:r>
            <a:r>
              <a:rPr lang="en-US" dirty="0"/>
              <a:t>us-west-2</a:t>
            </a:r>
            <a:r>
              <a:rPr lang="en-US" sz="1600" dirty="0"/>
              <a:t>, </a:t>
            </a:r>
            <a:r>
              <a:rPr lang="en-US" dirty="0"/>
              <a:t>eu-west-2</a:t>
            </a:r>
            <a:r>
              <a:rPr lang="en-US" sz="1600" dirty="0"/>
              <a:t> depending on geography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Essential for real-time responsiveness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Startup - Cost-Sensitive Workloads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us-east-1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Typically, the </a:t>
            </a:r>
            <a:r>
              <a:rPr lang="en-US" sz="1600" b="1" dirty="0"/>
              <a:t>lowest-cost</a:t>
            </a:r>
            <a:r>
              <a:rPr lang="en-US" sz="1600" dirty="0"/>
              <a:t> AWS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availability of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ecosystem / best pricing for EC2, S3,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5857" y="1228367"/>
            <a:ext cx="515982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❌ Poor Region Choices</a:t>
            </a:r>
          </a:p>
          <a:p>
            <a:endParaRPr lang="en-US" sz="1600" b="1" dirty="0"/>
          </a:p>
          <a:p>
            <a:r>
              <a:rPr lang="en-US" sz="1600" b="1" dirty="0"/>
              <a:t>1. Hosting European Data in us-east-1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Violates </a:t>
            </a:r>
            <a:r>
              <a:rPr lang="en-US" sz="1600" b="1" dirty="0"/>
              <a:t>GDPR</a:t>
            </a:r>
            <a:r>
              <a:rPr lang="en-US" sz="1600" dirty="0"/>
              <a:t>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legal + compliance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Latency impact for EU users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Serving Asian Users from a US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network latency -&gt; poor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data transfer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choices: ap-southeast-1, ap-south-1, ap-northeast-1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Deploying New Services in Regions With Limited Feature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Example:</a:t>
            </a:r>
            <a:r>
              <a:rPr lang="en-US" sz="1600" dirty="0"/>
              <a:t> Some new managed services not yet available in Middle East (me-south-1), Africa (af-south-1)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Missing services (RDS types, Lambda features, ML services,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Slows development and limits architecture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4491-D0E2-6AB4-7C8C-500C6987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Multi-Region vs Single-Region Architecture</a:t>
            </a:r>
            <a:endParaRPr lang="en-US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2A586-EB17-647A-BA4C-51402BAE881E}"/>
              </a:ext>
            </a:extLst>
          </p:cNvPr>
          <p:cNvSpPr txBox="1"/>
          <p:nvPr/>
        </p:nvSpPr>
        <p:spPr>
          <a:xfrm>
            <a:off x="638881" y="1295400"/>
            <a:ext cx="507611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Single-Region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All workloads deployed in one AWS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cost and simpler operations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latency for users close to that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All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Multi-Region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Workloads deployed across 2+ AWS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Higher resilience: protects against region-wide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global users with localized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Enables cross-region redundancy &amp; data residency compliance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Mission Critical Applications, Globally Distributed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E86A5-705F-D254-AA50-38ED0523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07" y="1515756"/>
            <a:ext cx="6130166" cy="3306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A081D-C839-9ADE-EA07-6506C71FFD02}"/>
              </a:ext>
            </a:extLst>
          </p:cNvPr>
          <p:cNvSpPr txBox="1"/>
          <p:nvPr/>
        </p:nvSpPr>
        <p:spPr>
          <a:xfrm>
            <a:off x="783772" y="5877391"/>
            <a:ext cx="965562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Key trade-off: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Simplicity &amp; cost</a:t>
            </a:r>
            <a:r>
              <a:rPr lang="en-US" dirty="0"/>
              <a:t> (single region) </a:t>
            </a:r>
            <a:r>
              <a:rPr lang="en-US" b="1" dirty="0"/>
              <a:t>vs</a:t>
            </a:r>
            <a:r>
              <a:rPr lang="en-US" dirty="0"/>
              <a:t> </a:t>
            </a:r>
            <a:r>
              <a:rPr lang="en-US" b="1" dirty="0"/>
              <a:t>resilience, geo-performance &amp; compliance</a:t>
            </a:r>
            <a:r>
              <a:rPr lang="en-US" dirty="0"/>
              <a:t> (multi-region)</a:t>
            </a:r>
          </a:p>
        </p:txBody>
      </p:sp>
    </p:spTree>
    <p:extLst>
      <p:ext uri="{BB962C8B-B14F-4D97-AF65-F5344CB8AC3E}">
        <p14:creationId xmlns:p14="http://schemas.microsoft.com/office/powerpoint/2010/main" val="135264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2E12-FDBA-221F-A2B1-28D27B9D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D3ED-A103-9005-1E97-6CB28B39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When to Use Multiple Regions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65CB2-1051-8A0B-DA78-140171719C72}"/>
              </a:ext>
            </a:extLst>
          </p:cNvPr>
          <p:cNvSpPr txBox="1"/>
          <p:nvPr/>
        </p:nvSpPr>
        <p:spPr>
          <a:xfrm>
            <a:off x="718458" y="1175657"/>
            <a:ext cx="5377542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1. Disaster Recovery (DR)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Critical workloads needing </a:t>
            </a:r>
            <a:r>
              <a:rPr lang="en-US" sz="1600" b="1" dirty="0"/>
              <a:t>business continuity</a:t>
            </a:r>
            <a:r>
              <a:rPr lang="en-US" sz="1600" dirty="0"/>
              <a:t> during regional outages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Cross-region replication for RDS, DynamoDB Global Tables, S3 CRR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Recovery strategies: Pilot Light, Warm Standby, Hot Active-Active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2. Globally Distributed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Latency-sensitive apps serving users in different continents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Regionalized deployments with global routing (Route53 latency-based routing, CloudFront)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B5C9B-4FB6-9887-FE0E-72B778405FCA}"/>
              </a:ext>
            </a:extLst>
          </p:cNvPr>
          <p:cNvSpPr txBox="1"/>
          <p:nvPr/>
        </p:nvSpPr>
        <p:spPr>
          <a:xfrm>
            <a:off x="6716486" y="1393371"/>
            <a:ext cx="4942114" cy="411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3. Regulatory &amp; Data Residency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Some industries require </a:t>
            </a:r>
            <a:r>
              <a:rPr lang="en-US" sz="1600" b="1" dirty="0"/>
              <a:t>data to remain in a specific geography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Multi-region designs allow compliance while serving users globally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4. Mission-Critical, Zero-Downtime Systems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Availability requirements exceeding single-region durability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multi-region active-active or active-standby</a:t>
            </a:r>
          </a:p>
        </p:txBody>
      </p:sp>
    </p:spTree>
    <p:extLst>
      <p:ext uri="{BB962C8B-B14F-4D97-AF65-F5344CB8AC3E}">
        <p14:creationId xmlns:p14="http://schemas.microsoft.com/office/powerpoint/2010/main" val="348499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4CA4-CF44-F605-930B-8EB2C2B6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ECE4-9F0A-4802-AE63-5E04A638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Multi-AZ Deployment for High Availability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3C4BD-038C-1288-42AE-CF5E7F588121}"/>
              </a:ext>
            </a:extLst>
          </p:cNvPr>
          <p:cNvSpPr txBox="1"/>
          <p:nvPr/>
        </p:nvSpPr>
        <p:spPr>
          <a:xfrm>
            <a:off x="925286" y="1240971"/>
            <a:ext cx="10123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Multi-AZ means running each layer in at least two physically separate data centers (AZs) in the same Region. </a:t>
            </a:r>
          </a:p>
          <a:p>
            <a:endParaRPr lang="en-US" sz="1600" dirty="0"/>
          </a:p>
          <a:p>
            <a:r>
              <a:rPr lang="en-US" sz="1600" dirty="0"/>
              <a:t>A Standard Multi-AZ Deployment for a web services: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the load balancer in public subnets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application servers in EC2s running in private subnets across multiple AZs behind an ALB.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Database is deployed in AWS-managed Multi-AZ configuration </a:t>
            </a:r>
          </a:p>
          <a:p>
            <a:endParaRPr lang="en-US" sz="1600" dirty="0"/>
          </a:p>
          <a:p>
            <a:r>
              <a:rPr lang="en-US" sz="1600" dirty="0"/>
              <a:t>This pattern gives protection from AZ failures while keeping latency low compared with multi-region designs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19961-F9D1-687D-A581-1C4EBE29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46714"/>
            <a:ext cx="6988629" cy="2900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736CF8-B2E1-8903-65F4-9AD5F6765BCD}"/>
              </a:ext>
            </a:extLst>
          </p:cNvPr>
          <p:cNvSpPr/>
          <p:nvPr/>
        </p:nvSpPr>
        <p:spPr>
          <a:xfrm>
            <a:off x="4470400" y="4273550"/>
            <a:ext cx="1104900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Jump / bastion Host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19B8B-9C62-A49B-90EF-AADD7088D203}"/>
              </a:ext>
            </a:extLst>
          </p:cNvPr>
          <p:cNvSpPr/>
          <p:nvPr/>
        </p:nvSpPr>
        <p:spPr>
          <a:xfrm>
            <a:off x="9152618" y="4581525"/>
            <a:ext cx="704850" cy="488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Laptop</a:t>
            </a:r>
          </a:p>
        </p:txBody>
      </p:sp>
    </p:spTree>
    <p:extLst>
      <p:ext uri="{BB962C8B-B14F-4D97-AF65-F5344CB8AC3E}">
        <p14:creationId xmlns:p14="http://schemas.microsoft.com/office/powerpoint/2010/main" val="387287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136C-5BFA-7DC5-FF7C-10723ED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02AC2-4D2D-C172-B61B-0806321C32C5}"/>
              </a:ext>
            </a:extLst>
          </p:cNvPr>
          <p:cNvSpPr txBox="1"/>
          <p:nvPr/>
        </p:nvSpPr>
        <p:spPr>
          <a:xfrm>
            <a:off x="1172763" y="2068286"/>
            <a:ext cx="8802666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Shared Responsibility Model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 between AWS and customer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the model to different service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security implications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87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E623-1641-D0BF-59ED-005977F5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rt showing the AWS customer and AWS shared responsibility">
            <a:extLst>
              <a:ext uri="{FF2B5EF4-FFF2-40B4-BE49-F238E27FC236}">
                <a16:creationId xmlns:a16="http://schemas.microsoft.com/office/drawing/2014/main" id="{D3837DB7-1E62-2944-FC25-C3FC91611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0" y="850090"/>
            <a:ext cx="10300607" cy="564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879FC2-F434-DD2B-771C-689697ADD50D}"/>
              </a:ext>
            </a:extLst>
          </p:cNvPr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The </a:t>
            </a:r>
            <a:r>
              <a:rPr sz="3600" dirty="0"/>
              <a:t>Shared Responsibility Model</a:t>
            </a:r>
          </a:p>
        </p:txBody>
      </p:sp>
    </p:spTree>
    <p:extLst>
      <p:ext uri="{BB962C8B-B14F-4D97-AF65-F5344CB8AC3E}">
        <p14:creationId xmlns:p14="http://schemas.microsoft.com/office/powerpoint/2010/main" val="108007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Explanation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601D5-CFE5-E89F-C5FD-1C4FB16E02B3}"/>
              </a:ext>
            </a:extLst>
          </p:cNvPr>
          <p:cNvSpPr txBox="1"/>
          <p:nvPr/>
        </p:nvSpPr>
        <p:spPr>
          <a:xfrm>
            <a:off x="733826" y="1151453"/>
            <a:ext cx="532311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OF the Cloud - </a:t>
            </a:r>
            <a:r>
              <a:rPr lang="en-US" sz="1600" b="1" i="1" dirty="0"/>
              <a:t>AWS Responsibility</a:t>
            </a:r>
          </a:p>
          <a:p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dirty="0"/>
              <a:t>AWS is responsible for securing the </a:t>
            </a:r>
            <a:r>
              <a:rPr lang="en-US" sz="1600" b="1" dirty="0"/>
              <a:t>foundation layer</a:t>
            </a:r>
            <a:r>
              <a:rPr lang="en-US" sz="1600" dirty="0"/>
              <a:t>, including: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Physical security</a:t>
            </a:r>
            <a:r>
              <a:rPr lang="en-US" sz="1600" dirty="0"/>
              <a:t> of data centers (access control, surveillance, facilities)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Hardware &amp; global infrastructure</a:t>
            </a:r>
            <a:r>
              <a:rPr lang="en-US" sz="1600" dirty="0"/>
              <a:t> (servers, storage, networking equipment)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Region / AZ infrastructure</a:t>
            </a:r>
            <a:r>
              <a:rPr lang="en-US" sz="1600" dirty="0"/>
              <a:t> and </a:t>
            </a:r>
            <a:r>
              <a:rPr lang="en-US" sz="1600" b="1" dirty="0"/>
              <a:t>power, physical redundancy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&amp; hypervisor layer</a:t>
            </a:r>
            <a:r>
              <a:rPr lang="en-US" sz="1600" dirty="0"/>
              <a:t> (virtualization stack)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Managed service platform security</a:t>
            </a:r>
            <a:br>
              <a:rPr lang="en-US" sz="1600" dirty="0"/>
            </a:br>
            <a:r>
              <a:rPr lang="en-US" sz="1600" i="1" dirty="0"/>
              <a:t>(e.g., Lambda, DynamoDB, S3, RDS - AWS secures the underlying OS, runtime, and infrastructure)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AWS secures everything that runs the cloud.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EACA-B40C-8A1C-1714-D324A8D84577}"/>
              </a:ext>
            </a:extLst>
          </p:cNvPr>
          <p:cNvSpPr txBox="1"/>
          <p:nvPr/>
        </p:nvSpPr>
        <p:spPr>
          <a:xfrm>
            <a:off x="6466115" y="1034057"/>
            <a:ext cx="517071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IN the Cloud - </a:t>
            </a:r>
            <a:r>
              <a:rPr lang="en-US" sz="1600" b="1" i="1" dirty="0"/>
              <a:t>Customer Responsibility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dirty="0"/>
              <a:t>Customers are responsible for securing what they </a:t>
            </a:r>
            <a:r>
              <a:rPr lang="en-US" sz="1600" b="1" dirty="0"/>
              <a:t>run or configure</a:t>
            </a:r>
            <a:r>
              <a:rPr lang="en-US" sz="1600" dirty="0"/>
              <a:t> on top of AWS: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protection</a:t>
            </a:r>
            <a:r>
              <a:rPr lang="en-US" sz="1600" dirty="0"/>
              <a:t> (classification, encryption keys, backup configurations)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security</a:t>
            </a:r>
            <a:r>
              <a:rPr lang="en-US" sz="1600" dirty="0"/>
              <a:t> (code vulnerabilities, API validation, secrets handling)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Identity &amp; Access Management (IAM)</a:t>
            </a:r>
            <a:br>
              <a:rPr lang="en-US" sz="1600" dirty="0"/>
            </a:br>
            <a:r>
              <a:rPr lang="en-US" sz="1600" dirty="0"/>
              <a:t>(permissions, roles, MFA, least privilege)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security controls</a:t>
            </a:r>
            <a:br>
              <a:rPr lang="en-US" sz="1600" dirty="0"/>
            </a:br>
            <a:r>
              <a:rPr lang="en-US" sz="1600" dirty="0"/>
              <a:t>(Security Groups, NACLs, routing policies, WAF rules)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Operating system &amp; runtime management</a:t>
            </a:r>
            <a:br>
              <a:rPr lang="en-US" sz="1600" dirty="0"/>
            </a:br>
            <a:r>
              <a:rPr lang="en-US" sz="1600" dirty="0"/>
              <a:t>(patching, updates, hardening - for EC2, containers, self-managed software)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 configuration &amp; compliance</a:t>
            </a:r>
            <a:br>
              <a:rPr lang="en-US" sz="1600" dirty="0"/>
            </a:br>
            <a:r>
              <a:rPr lang="en-US" sz="1600" dirty="0"/>
              <a:t>(S3 policies, KMS rotation, logging &amp; monitoring settings)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Customers secure everything they put </a:t>
            </a:r>
            <a:r>
              <a:rPr lang="en-US" sz="1600" b="1" i="1" dirty="0"/>
              <a:t>inside</a:t>
            </a:r>
            <a:r>
              <a:rPr lang="en-US" sz="1600" b="1" dirty="0"/>
              <a:t> the cloud.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Responsibility by Service </a:t>
            </a:r>
            <a:r>
              <a:rPr lang="en-IN" sz="3600" dirty="0"/>
              <a:t>Model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27194" y="1483535"/>
            <a:ext cx="27582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IaaS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EC2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OS patches &amp; hardening</a:t>
            </a:r>
          </a:p>
          <a:p>
            <a:r>
              <a:rPr lang="en-IN" sz="1600" dirty="0"/>
              <a:t>Application code</a:t>
            </a:r>
          </a:p>
          <a:p>
            <a:r>
              <a:rPr lang="en-IN" sz="1600" dirty="0"/>
              <a:t>Security Groups, NACLs</a:t>
            </a:r>
          </a:p>
          <a:p>
            <a:r>
              <a:rPr lang="en-IN" sz="1600" dirty="0"/>
              <a:t>Encryption (EBS, IAM keys)</a:t>
            </a:r>
          </a:p>
          <a:p>
            <a:r>
              <a:rPr lang="en-IN" sz="1600" dirty="0"/>
              <a:t>Data protection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Hardware</a:t>
            </a:r>
          </a:p>
          <a:p>
            <a:r>
              <a:rPr lang="en-IN" sz="1600" dirty="0"/>
              <a:t>Virtualization layer</a:t>
            </a:r>
          </a:p>
          <a:p>
            <a:r>
              <a:rPr lang="en-IN" sz="1600" dirty="0"/>
              <a:t>Network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2131" y="1483535"/>
            <a:ext cx="315668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PaaS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RDS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Data &amp; schema</a:t>
            </a:r>
          </a:p>
          <a:p>
            <a:r>
              <a:rPr lang="en-IN" sz="1600" dirty="0"/>
              <a:t>IAM &amp; access controls</a:t>
            </a:r>
          </a:p>
          <a:p>
            <a:r>
              <a:rPr lang="en-IN" sz="1600" dirty="0"/>
              <a:t>Encryption settings</a:t>
            </a:r>
          </a:p>
          <a:p>
            <a:r>
              <a:rPr lang="en-IN" sz="1600" dirty="0"/>
              <a:t>Parameter groups &amp; backups configuration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OS &amp; database engine patching</a:t>
            </a:r>
          </a:p>
          <a:p>
            <a:r>
              <a:rPr lang="en-IN" sz="1600" dirty="0"/>
              <a:t>High availability (Multi-AZ)</a:t>
            </a:r>
          </a:p>
          <a:p>
            <a:r>
              <a:rPr lang="en-IN" sz="1600" dirty="0"/>
              <a:t>Storage &amp; replication</a:t>
            </a:r>
          </a:p>
          <a:p>
            <a:r>
              <a:rPr lang="en-IN" sz="1600" dirty="0"/>
              <a:t>Monitoring + failover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00A9-28FD-62CE-CBD7-5E96A3DAE1BC}"/>
              </a:ext>
            </a:extLst>
          </p:cNvPr>
          <p:cNvSpPr txBox="1"/>
          <p:nvPr/>
        </p:nvSpPr>
        <p:spPr>
          <a:xfrm>
            <a:off x="7189102" y="1483535"/>
            <a:ext cx="315668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SaaS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S3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Access policies (Bucket / IAM)</a:t>
            </a:r>
          </a:p>
          <a:p>
            <a:r>
              <a:rPr lang="en-IN" sz="1600" dirty="0"/>
              <a:t>Object encryption</a:t>
            </a:r>
          </a:p>
          <a:p>
            <a:r>
              <a:rPr lang="en-IN" sz="1600" dirty="0"/>
              <a:t>Data lifecycle (retention, versioning)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Infrastructure</a:t>
            </a:r>
          </a:p>
          <a:p>
            <a:r>
              <a:rPr lang="en-IN" sz="1600" dirty="0"/>
              <a:t>Scaling + durability (11 nines)</a:t>
            </a:r>
          </a:p>
          <a:p>
            <a:r>
              <a:rPr lang="en-IN" sz="1600" dirty="0"/>
              <a:t>Storage hardware &amp; replication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1219200"/>
            <a:ext cx="8218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a responsibility matrix: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19FF7-481D-3322-FEF5-CC7D050F7915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328605-9AF5-6F7B-6536-4CD568A4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960246"/>
              </p:ext>
            </p:extLst>
          </p:nvPr>
        </p:nvGraphicFramePr>
        <p:xfrm>
          <a:off x="718457" y="2015065"/>
          <a:ext cx="10069287" cy="3972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37736">
                  <a:extLst>
                    <a:ext uri="{9D8B030D-6E8A-4147-A177-3AD203B41FA5}">
                      <a16:colId xmlns:a16="http://schemas.microsoft.com/office/drawing/2014/main" val="42169863"/>
                    </a:ext>
                  </a:extLst>
                </a:gridCol>
                <a:gridCol w="2181183">
                  <a:extLst>
                    <a:ext uri="{9D8B030D-6E8A-4147-A177-3AD203B41FA5}">
                      <a16:colId xmlns:a16="http://schemas.microsoft.com/office/drawing/2014/main" val="163191153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3805094950"/>
                    </a:ext>
                  </a:extLst>
                </a:gridCol>
                <a:gridCol w="2009504">
                  <a:extLst>
                    <a:ext uri="{9D8B030D-6E8A-4147-A177-3AD203B41FA5}">
                      <a16:colId xmlns:a16="http://schemas.microsoft.com/office/drawing/2014/main" val="3158773680"/>
                    </a:ext>
                  </a:extLst>
                </a:gridCol>
              </a:tblGrid>
              <a:tr h="567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Security Aspect</a:t>
                      </a:r>
                      <a:endParaRPr lang="en-IN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AWS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Customer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Shared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561856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center physical security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463209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EC2 OS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02998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RDS database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09962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S3 bucket policies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51555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Network traffic protection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279965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IAM user management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0636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593A-95BE-3857-C9DC-EA280BA5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7C9D3-71BE-63C6-D284-964639D0D6E5}"/>
              </a:ext>
            </a:extLst>
          </p:cNvPr>
          <p:cNvSpPr txBox="1"/>
          <p:nvPr/>
        </p:nvSpPr>
        <p:spPr>
          <a:xfrm>
            <a:off x="489857" y="920652"/>
            <a:ext cx="48223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Data Breach Scenario - S3 Bucket Left Public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Customer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configures </a:t>
            </a:r>
            <a:r>
              <a:rPr lang="en-US" sz="1600" b="1" dirty="0"/>
              <a:t>S3 Bucket Policies</a:t>
            </a:r>
            <a:r>
              <a:rPr lang="en-US" sz="1600" dirty="0"/>
              <a:t>, </a:t>
            </a:r>
            <a:r>
              <a:rPr lang="en-US" sz="1600" b="1" dirty="0"/>
              <a:t>IAM</a:t>
            </a:r>
            <a:r>
              <a:rPr lang="en-US" sz="1600" dirty="0"/>
              <a:t>, and </a:t>
            </a:r>
            <a:r>
              <a:rPr lang="en-US" sz="1600" b="1" dirty="0"/>
              <a:t>ACLs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Misconfiguration of “public access” or overly permissive policies is </a:t>
            </a:r>
            <a:r>
              <a:rPr lang="en-US" sz="1600" b="1" dirty="0"/>
              <a:t>customer responsibility</a:t>
            </a:r>
            <a:r>
              <a:rPr lang="en-US" sz="1600" dirty="0"/>
              <a:t>.</a:t>
            </a:r>
          </a:p>
          <a:p>
            <a:endParaRPr lang="en-US" sz="1600" b="1" dirty="0"/>
          </a:p>
          <a:p>
            <a:r>
              <a:rPr lang="en-US" sz="1600" b="1" dirty="0"/>
              <a:t>How to prevent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S3 Block Public Access (Account &amp; Bucket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IAM least privilege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Access Analyzer (S3 + IAM)</a:t>
            </a:r>
          </a:p>
          <a:p>
            <a:endParaRPr lang="en-US" sz="1600" b="1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secures S3 infrastructure; the customer secures S3 configuration.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95CAE-A89A-BDD0-F046-EAC1A2DA0516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78D7-0103-95D0-01E8-3C1EB609CB0D}"/>
              </a:ext>
            </a:extLst>
          </p:cNvPr>
          <p:cNvSpPr txBox="1"/>
          <p:nvPr/>
        </p:nvSpPr>
        <p:spPr>
          <a:xfrm>
            <a:off x="6215743" y="920652"/>
            <a:ext cx="49312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Hardware Failure Scenario - EC2 Instance Disk Fails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AWS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AWS maintains and replaces </a:t>
            </a:r>
            <a:r>
              <a:rPr lang="en-US" sz="1600" b="1" dirty="0"/>
              <a:t>physical hardware</a:t>
            </a:r>
            <a:r>
              <a:rPr lang="en-US" sz="1600" dirty="0"/>
              <a:t>, racks, networking, hypervisors, and EC2 hosts.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How to prevent it?</a:t>
            </a:r>
          </a:p>
          <a:p>
            <a:r>
              <a:rPr lang="en-US" sz="1600" b="1" dirty="0"/>
              <a:t>Customer Responsibilities:</a:t>
            </a:r>
          </a:p>
          <a:p>
            <a:r>
              <a:rPr lang="en-US" sz="1600" b="1" dirty="0"/>
              <a:t>Ensure data resiliency</a:t>
            </a:r>
            <a:r>
              <a:rPr lang="en-US" sz="1600" dirty="0"/>
              <a:t>, because EC2 instance-store or even EBS can fail under certain conditions.</a:t>
            </a:r>
          </a:p>
          <a:p>
            <a:r>
              <a:rPr lang="en-US" sz="1600" b="1" dirty="0"/>
              <a:t>Recommended: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EBS snapshots (automated)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AMIs for golden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Multi-AZ architectures (ASG across AZs)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Storing data in durable services (S3, DynamoDB, RDS)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replaces failed hardware; the customer must architect for resilience.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4252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38B6-B0F0-BDD6-C1DD-09F165AD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6EF7E-C5F5-06AC-D13B-038735CD648E}"/>
              </a:ext>
            </a:extLst>
          </p:cNvPr>
          <p:cNvSpPr txBox="1"/>
          <p:nvPr/>
        </p:nvSpPr>
        <p:spPr>
          <a:xfrm>
            <a:off x="1177921" y="2068286"/>
            <a:ext cx="8834663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Well-Architected Framework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2000" b="1" dirty="0"/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6 pillars and their design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framework principles to real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framework for architecture reviews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50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86" y="274321"/>
            <a:ext cx="9742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The 6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058" y="988628"/>
            <a:ext cx="23211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Remember: CROPS-S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058" y="1602859"/>
            <a:ext cx="109292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What is the Well-Architected Framework?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collection of </a:t>
            </a:r>
            <a:r>
              <a:rPr lang="en-US" sz="1600" b="1" dirty="0"/>
              <a:t>best practices</a:t>
            </a:r>
            <a:r>
              <a:rPr lang="en-US" sz="1600" dirty="0"/>
              <a:t> derived from </a:t>
            </a:r>
            <a:r>
              <a:rPr lang="en-US" sz="1600" b="1" dirty="0"/>
              <a:t>thousands of successful AWS workloads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Not strict rules but </a:t>
            </a:r>
            <a:r>
              <a:rPr lang="en-US" sz="1600" b="1" dirty="0"/>
              <a:t>guidelines</a:t>
            </a:r>
            <a:r>
              <a:rPr lang="en-US" sz="1600" dirty="0"/>
              <a:t> to help you make tradeoffs and design well-structured systems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during </a:t>
            </a:r>
            <a:r>
              <a:rPr lang="en-US" sz="1600" b="1" dirty="0"/>
              <a:t>architecture reviews</a:t>
            </a:r>
            <a:r>
              <a:rPr lang="en-US" sz="1600" dirty="0"/>
              <a:t>, modernization discussions, and ongoing improvements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ensure workloads are </a:t>
            </a:r>
            <a:r>
              <a:rPr lang="en-US" sz="1600" b="1" dirty="0"/>
              <a:t>secure, reliable, performant, cost-efficient, and sustainable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The Six Pillars</a:t>
            </a:r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7CBEE-0EEE-5863-52F1-B1283C05E770}"/>
              </a:ext>
            </a:extLst>
          </p:cNvPr>
          <p:cNvSpPr txBox="1"/>
          <p:nvPr/>
        </p:nvSpPr>
        <p:spPr>
          <a:xfrm>
            <a:off x="566058" y="3859887"/>
            <a:ext cx="580208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400" dirty="0"/>
          </a:p>
          <a:p>
            <a:r>
              <a:rPr lang="en-IN" sz="1400" b="1" dirty="0"/>
              <a:t>1️⃣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Run workloads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Automate, observe, improve continuously</a:t>
            </a:r>
          </a:p>
          <a:p>
            <a:endParaRPr lang="en-IN" sz="1400" dirty="0"/>
          </a:p>
          <a:p>
            <a:r>
              <a:rPr lang="en-IN" sz="1400" b="1" dirty="0"/>
              <a:t>2️⃣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Protect data, systems,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IAM, encryption, detection, least privilege</a:t>
            </a:r>
          </a:p>
          <a:p>
            <a:endParaRPr lang="en-IN" sz="1400" b="1" dirty="0"/>
          </a:p>
          <a:p>
            <a:r>
              <a:rPr lang="en-IN" sz="1400" b="1" dirty="0"/>
              <a:t>3️⃣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Prevent and recover from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Multi-AZ, fault isolation, automated recovery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80EC-C8B7-6BCD-0915-6E987A4C636C}"/>
              </a:ext>
            </a:extLst>
          </p:cNvPr>
          <p:cNvSpPr txBox="1"/>
          <p:nvPr/>
        </p:nvSpPr>
        <p:spPr>
          <a:xfrm>
            <a:off x="6662057" y="3916313"/>
            <a:ext cx="48332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4️⃣ Performance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resources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Select optimal compute, storage, and scaling patterns</a:t>
            </a:r>
          </a:p>
          <a:p>
            <a:endParaRPr lang="en-IN" sz="1400" dirty="0"/>
          </a:p>
          <a:p>
            <a:r>
              <a:rPr lang="en-IN" sz="1400" b="1" dirty="0"/>
              <a:t>5️⃣ Cost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Avoid unneeded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Right-size, auto-scale, use managed services, </a:t>
            </a:r>
            <a:r>
              <a:rPr lang="en-IN" sz="1400" dirty="0" err="1"/>
              <a:t>analyze</a:t>
            </a:r>
            <a:r>
              <a:rPr lang="en-IN" sz="1400" dirty="0"/>
              <a:t> spend</a:t>
            </a:r>
          </a:p>
          <a:p>
            <a:endParaRPr lang="en-IN" sz="1400" b="1" dirty="0"/>
          </a:p>
          <a:p>
            <a:r>
              <a:rPr lang="en-IN" sz="1400" b="1" dirty="0"/>
              <a:t>6️⃣ Sustainability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 environmental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efficient architectures, right-size, use serverless where possible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1. 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❓</a:t>
            </a:r>
            <a:r>
              <a:rPr lang="en-IN" sz="1600" b="1" dirty="0"/>
              <a:t> How do we run and monitor systems?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Perform operations as code (</a:t>
            </a:r>
            <a:r>
              <a:rPr lang="en-IN" sz="1600" dirty="0" err="1"/>
              <a:t>IaC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Make frequent, small, reversible changes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Anticipate failure &amp; design for 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Learn from operational events and improve continuously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Terraform / CloudFormation for infrastructure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CI/CD pipelines (</a:t>
            </a:r>
            <a:r>
              <a:rPr lang="en-IN" sz="1600" dirty="0" err="1"/>
              <a:t>CodePipeline</a:t>
            </a:r>
            <a:r>
              <a:rPr lang="en-IN" sz="1600" dirty="0"/>
              <a:t>, GitHub Actions, Jenkins, GitLab)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CloudWatch metrics, logs, alarms, dashboards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Run tests to validate resilience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9D86B-CC72-C5E2-69F8-3A7D7452D4D4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Manual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 monitoring or alerting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Fear of change / large untested releases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B9AC-5617-E79F-9980-7B55BB1B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BAB66-74F0-0552-6083-B17E660763D9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2.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FED87-DE59-1FA6-1F25-9107A36D9575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protect information and systems?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a strong identity foundation (IAM, MFA)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traceability (CloudTrail, CloudWatch Logs)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security at all layers (network, compute, application)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Automate security 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 data in transit &amp; at rest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people away from data (least privilege, automation)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MFA for all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Encrypt EBS, S3, RDS (KMS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VPC Security Groups, NACLs, WAF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IAM Access Analyzer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1D199-52E4-F8C4-AA6E-D4F6793417AB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Root account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Overly permissive IAM policies (“*:*”)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encryption on storage or data transfers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53057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F3EA-69BB-394B-B8A0-49D2592E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A9370-D75B-D3FB-C561-A0FEE961479C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3. Reliability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BF20-502C-968E-750F-FDA7F2FE8FBA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ensure systems work correctly?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Automatically recover from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Test recovery procedures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Scale horizontally, not vertically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guessing capacity - use autoscaling and managed services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Multi-AZ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Health checks (ALB, Route53)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Regular backup + restore test cycles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Multi-AZ or Aurora clusters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0842-B50E-99AF-4E7D-C946012B1FDA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Single points of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backups or untested backups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Manual scaling or manual failover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2922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6F41-0BDF-2523-6B05-D9BE75BD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B63F5-9A8B-DB93-6A2A-6895851E5628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4. Performance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A72C9-3E18-367B-5B28-D74D8C6DDEB8}"/>
              </a:ext>
            </a:extLst>
          </p:cNvPr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use computing resources efficiently?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Democratize advanced technologies (managed AI/ML, analytics)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Go global in minutes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Prefer serverless or managed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Experiment quickly and iterate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/ DynamoDB instead of self-managed DBs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CloudFront CDN for reduced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Choose the right EC2 instance type / family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Event-driven architecture with Lambda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6281C-FE35-9DFF-82FD-687A6477BC30}"/>
              </a:ext>
            </a:extLst>
          </p:cNvPr>
          <p:cNvSpPr txBox="1"/>
          <p:nvPr/>
        </p:nvSpPr>
        <p:spPr>
          <a:xfrm>
            <a:off x="6814457" y="2351469"/>
            <a:ext cx="468085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Over-provisioning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Wrong instance family (CPU-heavy vs memory-heavy)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Ignoring caching or CDN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2413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A2C2-A1BD-77B7-EB71-BA3E70C1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0B113-83B4-3EF9-2C7B-D8AA2ED79872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5. Cost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68D9B-909E-0455-86D8-CBAC9F67B147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avoid unnecessary costs?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Cloud Financial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Measure overall efficiency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Attribute and analyze cost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demand-based or schedule-based scaling</a:t>
            </a:r>
          </a:p>
          <a:p>
            <a:pPr>
              <a:spcBef>
                <a:spcPts val="600"/>
              </a:spcBef>
            </a:pP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Reserved Instances / Savings Plans / </a:t>
            </a:r>
            <a:r>
              <a:rPr lang="en-US" sz="1600"/>
              <a:t>Spot Instances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dev/test environments during off-hours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Right-size EC2, RDS, EKS nodes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S3 lifecycle policies (IA, Glacier)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Tagging for cost 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B3A52-7679-50F7-CDCA-92E523C38030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Always-on dev environments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cost visibility or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Over-provisioned instances and storage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2439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2B83-FAF5-9587-9115-82D27782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00E20-ADDD-488D-2764-428FF50E7C50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6. Sustainability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A3723-0113-7898-07EA-24A64FC3F3AE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❓ How do we minimize environmental impact?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Understand your workload’s impact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Establish sustainability targets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Maximize utilization of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Prefer managed services over self-hosted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Optimize architecture and data footprint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Graviton processors (energy efficient)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auto-scaling, serverless, and event-driven 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Choose regions powered by renewable energy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S3 Intelligent-Tiering / storage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FD841-7F4B-F611-2D52-60A41F4A98CC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Idle or underutilized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Inefficient code or oversized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Storing unnecessary or unused data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388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8829" y="1582340"/>
            <a:ext cx="94006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</a:t>
            </a:r>
            <a:r>
              <a:rPr lang="en-US" dirty="0"/>
              <a:t>: Design a web application architecture</a:t>
            </a:r>
          </a:p>
          <a:p>
            <a:r>
              <a:rPr lang="en-US" dirty="0"/>
              <a:t>Requirements: High availability, cost-effective, secure, global users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Task: Apply each pillar to the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Excellence: </a:t>
            </a:r>
            <a:r>
              <a:rPr lang="en-US" dirty="0"/>
              <a:t>How will you deploy and monitor?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Security: </a:t>
            </a:r>
            <a:r>
              <a:rPr lang="en-US" dirty="0"/>
              <a:t>How will you protect data and access?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Reliability: </a:t>
            </a:r>
            <a:r>
              <a:rPr lang="en-US" dirty="0"/>
              <a:t>How will you handle failures?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Performance: </a:t>
            </a:r>
            <a:r>
              <a:rPr lang="en-US" dirty="0"/>
              <a:t>How will you serve global users?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Cost: </a:t>
            </a:r>
            <a:r>
              <a:rPr lang="en-US" dirty="0"/>
              <a:t>How will you optimize spending?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Sustainability: </a:t>
            </a:r>
            <a:r>
              <a:rPr lang="en-US" dirty="0"/>
              <a:t>How will you minimize environmental impact?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DD167-3A50-59BB-765F-03A89EFF8DD5}"/>
              </a:ext>
            </a:extLst>
          </p:cNvPr>
          <p:cNvSpPr txBox="1"/>
          <p:nvPr/>
        </p:nvSpPr>
        <p:spPr>
          <a:xfrm>
            <a:off x="620486" y="274321"/>
            <a:ext cx="4914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269D-2B8E-5885-34F4-C16C7ADD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1F5386-D2F1-2FC8-EAF7-A76F60C9C2EA}"/>
              </a:ext>
            </a:extLst>
          </p:cNvPr>
          <p:cNvSpPr txBox="1"/>
          <p:nvPr/>
        </p:nvSpPr>
        <p:spPr>
          <a:xfrm>
            <a:off x="1883229" y="2068286"/>
            <a:ext cx="714102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IAM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and manage IAM users, groups,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effective IAM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security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principle of least privilege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5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543" y="274321"/>
            <a:ext cx="5290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5544" y="1097280"/>
            <a:ext cx="542108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🔑 Root Account</a:t>
            </a:r>
          </a:p>
          <a:p>
            <a:r>
              <a:rPr lang="en-US" sz="1600" b="1" dirty="0"/>
              <a:t>Used ONLY for account setup &amp; critical operations</a:t>
            </a:r>
            <a:endParaRPr lang="en-US" sz="1600" dirty="0"/>
          </a:p>
          <a:p>
            <a:r>
              <a:rPr lang="en-US" sz="1600" dirty="0"/>
              <a:t>Never use for day-to-day tasks</a:t>
            </a:r>
          </a:p>
          <a:p>
            <a:r>
              <a:rPr lang="en-US" sz="1600" dirty="0"/>
              <a:t>Always enable </a:t>
            </a:r>
            <a:r>
              <a:rPr lang="en-US" sz="1600" b="1" dirty="0"/>
              <a:t>MFA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👤 IAM Users</a:t>
            </a:r>
          </a:p>
          <a:p>
            <a:r>
              <a:rPr lang="en-US" sz="1600" dirty="0"/>
              <a:t>Represent </a:t>
            </a:r>
            <a:r>
              <a:rPr lang="en-US" sz="1600" b="1" dirty="0"/>
              <a:t>individual people or applications</a:t>
            </a:r>
            <a:endParaRPr lang="en-US" sz="1600" dirty="0"/>
          </a:p>
          <a:p>
            <a:r>
              <a:rPr lang="en-US" sz="1600" dirty="0"/>
              <a:t>Long-term credentials (password, access keys)</a:t>
            </a:r>
          </a:p>
          <a:p>
            <a:r>
              <a:rPr lang="en-US" sz="1600" dirty="0"/>
              <a:t>Should follow </a:t>
            </a:r>
            <a:r>
              <a:rPr lang="en-US" sz="1600" b="1" dirty="0"/>
              <a:t>least privilege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👥 IAM Groups</a:t>
            </a:r>
          </a:p>
          <a:p>
            <a:r>
              <a:rPr lang="en-US" sz="1600" dirty="0"/>
              <a:t>Logical grouping of users</a:t>
            </a:r>
          </a:p>
          <a:p>
            <a:r>
              <a:rPr lang="en-US" sz="1600" dirty="0"/>
              <a:t>Attach policies to groups -&gt; users inherit permissions</a:t>
            </a:r>
          </a:p>
          <a:p>
            <a:r>
              <a:rPr lang="en-US" sz="1600" dirty="0"/>
              <a:t>Simplifies permission management</a:t>
            </a:r>
          </a:p>
          <a:p>
            <a:br>
              <a:rPr lang="en-US" sz="1600" dirty="0"/>
            </a:br>
            <a:endParaRPr lang="en-US" sz="1600" dirty="0"/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48F7F-B89B-1B20-4E3F-4427E08E6557}"/>
              </a:ext>
            </a:extLst>
          </p:cNvPr>
          <p:cNvSpPr txBox="1"/>
          <p:nvPr/>
        </p:nvSpPr>
        <p:spPr>
          <a:xfrm>
            <a:off x="6770914" y="1181910"/>
            <a:ext cx="48876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🎭 IAM Roles</a:t>
            </a:r>
          </a:p>
          <a:p>
            <a:r>
              <a:rPr lang="en-US" sz="1600" b="1" dirty="0"/>
              <a:t>No long-term credentials</a:t>
            </a:r>
            <a:endParaRPr lang="en-US" sz="1600" dirty="0"/>
          </a:p>
          <a:p>
            <a:r>
              <a:rPr lang="en-US" sz="1600" dirty="0"/>
              <a:t>Assume role to get </a:t>
            </a:r>
            <a:r>
              <a:rPr lang="en-US" sz="1600" b="1" dirty="0"/>
              <a:t>temporary credentials</a:t>
            </a:r>
            <a:endParaRPr lang="en-US" sz="1600" dirty="0"/>
          </a:p>
          <a:p>
            <a:r>
              <a:rPr lang="en-US" sz="1600" dirty="0"/>
              <a:t>Used for:</a:t>
            </a:r>
          </a:p>
          <a:p>
            <a:pPr lvl="1"/>
            <a:r>
              <a:rPr lang="en-US" sz="1600" dirty="0"/>
              <a:t>Cross-service access (EC2 -&gt; S3)</a:t>
            </a:r>
          </a:p>
          <a:p>
            <a:pPr lvl="1"/>
            <a:r>
              <a:rPr lang="en-US" sz="1600" dirty="0"/>
              <a:t>Cross-account access</a:t>
            </a:r>
          </a:p>
          <a:p>
            <a:pPr lvl="1"/>
            <a:r>
              <a:rPr lang="en-US" sz="1600" dirty="0"/>
              <a:t>Federated access (SSO, external identity providers)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📄 IAM Policies</a:t>
            </a:r>
          </a:p>
          <a:p>
            <a:r>
              <a:rPr lang="en-US" sz="1600" dirty="0"/>
              <a:t>JSON documents defining </a:t>
            </a:r>
            <a:r>
              <a:rPr lang="en-US" sz="1600" b="1" dirty="0"/>
              <a:t>allow/deny</a:t>
            </a:r>
            <a:r>
              <a:rPr lang="en-US" sz="1600" dirty="0"/>
              <a:t> permissions</a:t>
            </a:r>
          </a:p>
          <a:p>
            <a:r>
              <a:rPr lang="en-US" sz="1600" dirty="0"/>
              <a:t>Attached to </a:t>
            </a:r>
            <a:r>
              <a:rPr lang="en-US" sz="1600" b="1" dirty="0"/>
              <a:t>users, groups, or roles</a:t>
            </a:r>
            <a:endParaRPr lang="en-US" sz="1600" dirty="0"/>
          </a:p>
          <a:p>
            <a:r>
              <a:rPr lang="en-US" sz="1600" dirty="0"/>
              <a:t>Types:</a:t>
            </a:r>
          </a:p>
          <a:p>
            <a:pPr lvl="1"/>
            <a:r>
              <a:rPr lang="en-US" sz="1600" dirty="0"/>
              <a:t>Managed Policies (AWS or customer-managed)</a:t>
            </a:r>
          </a:p>
          <a:p>
            <a:pPr lvl="1"/>
            <a:r>
              <a:rPr lang="en-US" sz="1600" dirty="0"/>
              <a:t>Inline Policies (resource-specific)</a:t>
            </a:r>
            <a:endParaRPr lang="en-IN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4771" y="274321"/>
            <a:ext cx="7434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7057" y="1097280"/>
            <a:ext cx="1006928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👤 What is an IAM User?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Represents a </a:t>
            </a:r>
            <a:r>
              <a:rPr lang="en-US" sz="1600" b="1" dirty="0"/>
              <a:t>specific person</a:t>
            </a:r>
            <a:r>
              <a:rPr lang="en-US" sz="1600" dirty="0"/>
              <a:t> or </a:t>
            </a:r>
            <a:r>
              <a:rPr lang="en-US" sz="1600" b="1" dirty="0"/>
              <a:t>application</a:t>
            </a:r>
            <a:r>
              <a:rPr lang="en-US" sz="1600" dirty="0"/>
              <a:t> that needs long-term access to your AWS account.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Permanent credentials</a:t>
            </a:r>
            <a:br>
              <a:rPr lang="en-US" sz="1600" dirty="0"/>
            </a:br>
            <a:r>
              <a:rPr lang="en-US" sz="1600" dirty="0"/>
              <a:t>(passwords, access keys, CLI/SDK authentication)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Can belong to </a:t>
            </a:r>
            <a:r>
              <a:rPr lang="en-US" sz="1600" b="1" dirty="0"/>
              <a:t>multiple IAM groups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Inherits permissions from groups, plus any directly attached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for </a:t>
            </a:r>
            <a:r>
              <a:rPr lang="en-US" sz="1600" b="1" dirty="0"/>
              <a:t>human access</a:t>
            </a:r>
            <a:r>
              <a:rPr lang="en-US" sz="1600" dirty="0"/>
              <a:t> or </a:t>
            </a:r>
            <a:r>
              <a:rPr lang="en-US" sz="1600" b="1" dirty="0"/>
              <a:t>legacy application access</a:t>
            </a:r>
            <a:br>
              <a:rPr lang="en-US" sz="1600" dirty="0"/>
            </a:br>
            <a:r>
              <a:rPr lang="en-US" sz="1600" dirty="0"/>
              <a:t>(but modern apps should use </a:t>
            </a:r>
            <a:r>
              <a:rPr lang="en-US" sz="1600" b="1" dirty="0"/>
              <a:t>roles</a:t>
            </a:r>
            <a:r>
              <a:rPr lang="en-US" sz="1600" dirty="0"/>
              <a:t>, not users)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One user per person</a:t>
            </a:r>
            <a:r>
              <a:rPr lang="en-US" sz="1600" dirty="0"/>
              <a:t> (no shared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Enable MFA</a:t>
            </a:r>
            <a:r>
              <a:rPr lang="en-US" sz="1600" dirty="0"/>
              <a:t> for every user (especially console access)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Rotate access keys</a:t>
            </a:r>
            <a:r>
              <a:rPr lang="en-US" sz="1600" dirty="0"/>
              <a:t> regularly (automate where possible)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least privilege</a:t>
            </a:r>
            <a:r>
              <a:rPr lang="en-US" sz="1600" dirty="0"/>
              <a:t> policies (grant only what is needed)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password policies</a:t>
            </a:r>
            <a:r>
              <a:rPr lang="en-US" sz="1600" dirty="0"/>
              <a:t>: length, rotation, complexity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IAM Access Analyzer</a:t>
            </a:r>
            <a:r>
              <a:rPr lang="en-US" sz="1600" dirty="0"/>
              <a:t> to detect overly permissive access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457" y="274321"/>
            <a:ext cx="3875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971" y="1097280"/>
            <a:ext cx="916794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👥 What is an IAM Group?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</a:t>
            </a:r>
            <a:r>
              <a:rPr lang="en-US" sz="1600" b="1" dirty="0"/>
              <a:t>collection of IAM users</a:t>
            </a:r>
            <a:r>
              <a:rPr lang="en-US" sz="1600" dirty="0"/>
              <a:t> who share similar permission requirements.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Benefits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permission management</a:t>
            </a:r>
            <a:br>
              <a:rPr lang="en-US" sz="1600" dirty="0"/>
            </a:br>
            <a:r>
              <a:rPr lang="en-US" sz="1600" dirty="0"/>
              <a:t>(attach policies to the group, not each user)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Users automatically inherit group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Scales well</a:t>
            </a:r>
            <a:r>
              <a:rPr lang="en-US" sz="1600" dirty="0"/>
              <a:t> for large teams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</a:t>
            </a:r>
            <a:r>
              <a:rPr lang="en-US" sz="1600" b="1" dirty="0"/>
              <a:t>organize access by job function</a:t>
            </a:r>
            <a:r>
              <a:rPr lang="en-US" sz="1600" dirty="0"/>
              <a:t> or workload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Developers</a:t>
            </a:r>
            <a:r>
              <a:rPr lang="en-US" sz="1600" dirty="0"/>
              <a:t> - access to dev/test resources, CI/CD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Administrators</a:t>
            </a:r>
            <a:r>
              <a:rPr lang="en-US" sz="1600" dirty="0"/>
              <a:t> - elevated privileges, break-glass accounts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Scientists</a:t>
            </a:r>
            <a:r>
              <a:rPr lang="en-US" sz="1600" dirty="0"/>
              <a:t> - analytics tools, S3 datasets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Auditors / Security Reviewers</a:t>
            </a:r>
            <a:r>
              <a:rPr lang="en-US" sz="1600" dirty="0"/>
              <a:t> - read-only access to logs &amp; configs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7571" y="274321"/>
            <a:ext cx="3542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571" y="1097280"/>
            <a:ext cx="9320349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🎭 What is an IAM Role?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role provides </a:t>
            </a:r>
            <a:r>
              <a:rPr lang="en-US" sz="1600" b="1" dirty="0"/>
              <a:t>temporary security credentials</a:t>
            </a:r>
            <a:r>
              <a:rPr lang="en-US" sz="1600" dirty="0"/>
              <a:t> for users, applications, or AWS services to access resources </a:t>
            </a:r>
            <a:r>
              <a:rPr lang="en-US" sz="1600" b="1" dirty="0"/>
              <a:t>without long-term credentials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Differences from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No permanent credentials</a:t>
            </a:r>
            <a:r>
              <a:rPr lang="en-US" sz="1600" dirty="0"/>
              <a:t> (no password, short term access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Assumed</a:t>
            </a:r>
            <a:r>
              <a:rPr lang="en-US" sz="1600" dirty="0"/>
              <a:t> by users, services, or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Temporary credentials</a:t>
            </a:r>
            <a:r>
              <a:rPr lang="en-US" sz="1600" dirty="0"/>
              <a:t> automatically rotate and expire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Intended for </a:t>
            </a:r>
            <a:r>
              <a:rPr lang="en-US" sz="1600" b="1" dirty="0"/>
              <a:t>machine-to-machine</a:t>
            </a:r>
            <a:r>
              <a:rPr lang="en-US" sz="1600" dirty="0"/>
              <a:t> or </a:t>
            </a:r>
            <a:r>
              <a:rPr lang="en-US" sz="1600" b="1" dirty="0"/>
              <a:t>cross-account</a:t>
            </a:r>
            <a:r>
              <a:rPr lang="en-US" sz="1600" dirty="0"/>
              <a:t> access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More secure than embedding access keys in applications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EC2 -&gt; S3 access</a:t>
            </a:r>
            <a:r>
              <a:rPr lang="en-US" sz="1600" dirty="0"/>
              <a:t> via Instance Profile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Cross-account access</a:t>
            </a:r>
            <a:r>
              <a:rPr lang="en-US" sz="1600" dirty="0"/>
              <a:t> (e.g., prod &lt;-&gt; audit account)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Federated users</a:t>
            </a:r>
            <a:r>
              <a:rPr lang="en-US" sz="1600" dirty="0"/>
              <a:t> (SSO, IAM Identity Center, external IdPs)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Lambda / ECS tasks</a:t>
            </a:r>
            <a:r>
              <a:rPr lang="en-US" sz="1600" dirty="0"/>
              <a:t> needing permissions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CI/CD pipelines</a:t>
            </a:r>
            <a:r>
              <a:rPr lang="en-US" sz="1600" dirty="0"/>
              <a:t> assuming roles for deployments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Service-to-service access</a:t>
            </a:r>
            <a:r>
              <a:rPr lang="en-US" sz="1600" dirty="0"/>
              <a:t> (EKS, API Gateway, Step Functions)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5BFE-0DB7-45C4-F231-6AE81C31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B85DFE-5AEE-4BB6-2015-2169D1F3EA61}"/>
              </a:ext>
            </a:extLst>
          </p:cNvPr>
          <p:cNvSpPr txBox="1"/>
          <p:nvPr/>
        </p:nvSpPr>
        <p:spPr>
          <a:xfrm>
            <a:off x="906449" y="262393"/>
            <a:ext cx="5768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</a:t>
            </a:r>
            <a:r>
              <a:rPr lang="en-IN" sz="3600" dirty="0"/>
              <a:t>Cross Account </a:t>
            </a:r>
            <a:r>
              <a:rPr sz="3600" dirty="0"/>
              <a:t>Roles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1E28E-8074-623C-DD1C-FE860246F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70" y="1341926"/>
            <a:ext cx="6121715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23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769" y="274321"/>
            <a:ext cx="394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769" y="1088572"/>
            <a:ext cx="925615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📄 What is an IAM Policy?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policy is a </a:t>
            </a:r>
            <a:r>
              <a:rPr lang="en-US" sz="1600" b="1" dirty="0"/>
              <a:t>JSON document</a:t>
            </a:r>
            <a:r>
              <a:rPr lang="en-US" sz="1600" dirty="0"/>
              <a:t> that defines who can do what on specific AWS resources.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Core Components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Effect</a:t>
            </a:r>
            <a:r>
              <a:rPr lang="en-US" sz="1600" dirty="0"/>
              <a:t> - Allow or Deny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Action</a:t>
            </a:r>
            <a:r>
              <a:rPr lang="en-US" sz="1600" dirty="0"/>
              <a:t> - What actions are permitted</a:t>
            </a:r>
            <a:br>
              <a:rPr lang="en-US" sz="1600" dirty="0"/>
            </a:br>
            <a:r>
              <a:rPr lang="en-US" sz="1600" dirty="0"/>
              <a:t>(e.g., s3:GetObject, ec2:StartInstances)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</a:t>
            </a:r>
            <a:r>
              <a:rPr lang="en-US" sz="1600" dirty="0"/>
              <a:t> - Which resource(s) the policy applies to</a:t>
            </a:r>
            <a:br>
              <a:rPr lang="en-US" sz="1600" dirty="0"/>
            </a:br>
            <a:r>
              <a:rPr lang="en-US" sz="1600" dirty="0"/>
              <a:t>(ARN format: arn:aws:s3:::my-bucket/*)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Condition (optional)</a:t>
            </a:r>
            <a:r>
              <a:rPr lang="en-US" sz="1600" dirty="0"/>
              <a:t> - When/if access is allowed</a:t>
            </a:r>
            <a:br>
              <a:rPr lang="en-US" sz="1600" dirty="0"/>
            </a:br>
            <a:r>
              <a:rPr lang="en-US" sz="1600" dirty="0"/>
              <a:t>(IP restrictions, MFA required, time of day, tags, etc.)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How Policy Evaluation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Default = Deny</a:t>
            </a:r>
            <a:r>
              <a:rPr lang="en-US" sz="1600" dirty="0"/>
              <a:t> (no one has access initially)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Allow = Grants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Deny = Always overrides Allow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Remember the rule: Deny -&gt; Allow -&gt; Deny </a:t>
            </a:r>
            <a:r>
              <a:rPr lang="en-US" sz="1600" dirty="0"/>
              <a:t>(</a:t>
            </a:r>
            <a:r>
              <a:rPr lang="en-US" sz="1600" b="1" dirty="0"/>
              <a:t>DAD rule</a:t>
            </a:r>
            <a:r>
              <a:rPr lang="en-US" sz="1600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257" y="1108166"/>
            <a:ext cx="537754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1️⃣ Never Use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IAM users immediately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r>
              <a:rPr lang="en-US" sz="1600" dirty="0"/>
              <a:t> on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root credentials securely (do not use daily)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2️⃣ Apply the Principle of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Start with </a:t>
            </a:r>
            <a:r>
              <a:rPr lang="en-US" sz="1600" b="1" dirty="0"/>
              <a:t>zero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 only what is required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Review and remove unused permissions regularly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3️⃣ Use IAM Groups for Permission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Do </a:t>
            </a:r>
            <a:r>
              <a:rPr lang="en-US" sz="1600" b="1" dirty="0"/>
              <a:t>not</a:t>
            </a:r>
            <a:r>
              <a:rPr lang="en-US" sz="1600" dirty="0"/>
              <a:t> attach policies directly to individual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groups by </a:t>
            </a:r>
            <a:r>
              <a:rPr lang="en-US" sz="1600" b="1" dirty="0"/>
              <a:t>job function</a:t>
            </a:r>
            <a:r>
              <a:rPr lang="en-US" sz="1600" dirty="0"/>
              <a:t> (e.g., Dev, Ops, Security)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4️⃣ Enable MFA Everywhere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MFA for all users - especially administrators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virtual MFA</a:t>
            </a:r>
            <a:r>
              <a:rPr lang="en-US" sz="1600" dirty="0"/>
              <a:t> apps (Authy, Google Authenticator)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274F-D8CC-D435-D9DF-09CF6D04F3EB}"/>
              </a:ext>
            </a:extLst>
          </p:cNvPr>
          <p:cNvSpPr txBox="1"/>
          <p:nvPr/>
        </p:nvSpPr>
        <p:spPr>
          <a:xfrm>
            <a:off x="6498771" y="920652"/>
            <a:ext cx="5377543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5️⃣ Rotate Credentials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Rotate access keys frequently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strong password policies (e.g., 90-day rotation)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6️⃣ Use Roles for Applications &amp;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Never embed access keys in code or config files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EC2 instance roles</a:t>
            </a:r>
            <a:r>
              <a:rPr lang="en-US" sz="1600" dirty="0"/>
              <a:t>, </a:t>
            </a:r>
            <a:r>
              <a:rPr lang="en-US" sz="1600" b="1" dirty="0"/>
              <a:t>Lambda execution roles</a:t>
            </a:r>
            <a:r>
              <a:rPr lang="en-US" sz="1600" dirty="0"/>
              <a:t>, </a:t>
            </a:r>
            <a:r>
              <a:rPr lang="en-US" sz="1600" b="1" dirty="0"/>
              <a:t>ECS task roles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7️⃣ Enable CloudTrail (Account-Wide)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Log all API activity across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Detect unusual or unauthorized behavior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8️⃣ Use Policy Conditions for Extra Security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Restrict access by </a:t>
            </a:r>
            <a:r>
              <a:rPr lang="en-US" sz="1600" b="1" dirty="0"/>
              <a:t>IP address</a:t>
            </a:r>
            <a:r>
              <a:rPr lang="en-US" sz="1600" dirty="0"/>
              <a:t>, </a:t>
            </a:r>
            <a:r>
              <a:rPr lang="en-US" sz="1600" b="1" dirty="0"/>
              <a:t>VPC</a:t>
            </a:r>
            <a:r>
              <a:rPr lang="en-US" sz="1600" dirty="0"/>
              <a:t>, or </a:t>
            </a:r>
            <a:r>
              <a:rPr lang="en-US" sz="1600" b="1" dirty="0"/>
              <a:t>time of day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</a:t>
            </a:r>
            <a:r>
              <a:rPr lang="en-US" sz="1600" b="1" dirty="0"/>
              <a:t>MFA</a:t>
            </a:r>
            <a:r>
              <a:rPr lang="en-US" sz="1600" dirty="0"/>
              <a:t> for sensitive API calls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tag-based access controls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8731-7004-5FD4-D7F1-9121980D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8331F-7F80-D89A-2361-BBF3AC93EE7B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IAM Policies Deep Dive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70407-164A-0C8B-3C13-900C906C8783}"/>
              </a:ext>
            </a:extLst>
          </p:cNvPr>
          <p:cNvSpPr txBox="1"/>
          <p:nvPr/>
        </p:nvSpPr>
        <p:spPr>
          <a:xfrm>
            <a:off x="772886" y="1097280"/>
            <a:ext cx="92550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1. Policy Example with Condition (IP Restriction):</a:t>
            </a:r>
          </a:p>
          <a:p>
            <a:endParaRPr lang="en-US" sz="1400" b="1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"s3:GetObject",</a:t>
            </a:r>
          </a:p>
          <a:p>
            <a:r>
              <a:rPr lang="en-US" sz="1400" dirty="0"/>
              <a:t>      "Resource": "arn:aws:s3:::my-bucket/*",</a:t>
            </a:r>
          </a:p>
          <a:p>
            <a:r>
              <a:rPr lang="en-US" sz="1400" dirty="0"/>
              <a:t>      "Condition": {</a:t>
            </a:r>
          </a:p>
          <a:p>
            <a:r>
              <a:rPr lang="en-US" sz="1400" dirty="0"/>
              <a:t>        "</a:t>
            </a:r>
            <a:r>
              <a:rPr lang="en-US" sz="1400" dirty="0" err="1"/>
              <a:t>IpAddress</a:t>
            </a:r>
            <a:r>
              <a:rPr lang="en-US" sz="1400" dirty="0"/>
              <a:t>": {</a:t>
            </a:r>
          </a:p>
          <a:p>
            <a:r>
              <a:rPr lang="en-US" sz="1400" dirty="0"/>
              <a:t>          "</a:t>
            </a:r>
            <a:r>
              <a:rPr lang="en-US" sz="1400" dirty="0" err="1"/>
              <a:t>aws:SourceIp</a:t>
            </a:r>
            <a:r>
              <a:rPr lang="en-US" sz="1400" dirty="0"/>
              <a:t>": "203.0.113.0/24"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br>
              <a:rPr lang="en-US" sz="1400" dirty="0"/>
            </a:br>
            <a:r>
              <a:rPr lang="en-US" sz="1400" b="1" dirty="0"/>
              <a:t>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Allows </a:t>
            </a:r>
            <a:r>
              <a:rPr lang="en-US" sz="1400" dirty="0" err="1"/>
              <a:t>GetObject</a:t>
            </a:r>
            <a:r>
              <a:rPr lang="en-US" sz="1400" dirty="0"/>
              <a:t> </a:t>
            </a:r>
            <a:r>
              <a:rPr lang="en-US" sz="1400" b="1" dirty="0"/>
              <a:t>only</a:t>
            </a:r>
            <a:r>
              <a:rPr lang="en-US" sz="1400" dirty="0"/>
              <a:t> from specific IP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Demonstrates the power of </a:t>
            </a:r>
            <a:r>
              <a:rPr lang="en-US" sz="1400" b="1" dirty="0"/>
              <a:t>Conditions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compliance or corporate network restrictions</a:t>
            </a:r>
          </a:p>
        </p:txBody>
      </p:sp>
    </p:spTree>
    <p:extLst>
      <p:ext uri="{BB962C8B-B14F-4D97-AF65-F5344CB8AC3E}">
        <p14:creationId xmlns:p14="http://schemas.microsoft.com/office/powerpoint/2010/main" val="4161649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EFBF-9794-D58B-F2F4-40D38B77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B58675-B8DE-93EB-3A78-F6CA8E083136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B2F61-8981-9486-D9D1-AB2D20EB54ED}"/>
              </a:ext>
            </a:extLst>
          </p:cNvPr>
          <p:cNvSpPr txBox="1"/>
          <p:nvPr/>
        </p:nvSpPr>
        <p:spPr>
          <a:xfrm>
            <a:off x="772886" y="1097280"/>
            <a:ext cx="9255034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2. Read-Only S3 Access Policy:</a:t>
            </a:r>
          </a:p>
          <a:p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[</a:t>
            </a:r>
          </a:p>
          <a:p>
            <a:r>
              <a:rPr lang="en-US" sz="1400" dirty="0"/>
              <a:t>        "s3:GetObject",</a:t>
            </a:r>
          </a:p>
          <a:p>
            <a:r>
              <a:rPr lang="en-US" sz="1400" dirty="0"/>
              <a:t>        "s3:ListBucket"</a:t>
            </a:r>
          </a:p>
          <a:p>
            <a:r>
              <a:rPr lang="en-US" sz="1400" dirty="0"/>
              <a:t>      ],</a:t>
            </a:r>
          </a:p>
          <a:p>
            <a:r>
              <a:rPr lang="en-US" sz="1400" dirty="0"/>
              <a:t>      "Resource": [</a:t>
            </a:r>
          </a:p>
          <a:p>
            <a:r>
              <a:rPr lang="en-US" sz="1400" dirty="0"/>
              <a:t>        "arn:aws:s3:::my-bucket",</a:t>
            </a:r>
          </a:p>
          <a:p>
            <a:r>
              <a:rPr lang="en-US" sz="1400" dirty="0"/>
              <a:t>        "arn:aws:s3:::my-bucket/*"</a:t>
            </a:r>
          </a:p>
          <a:p>
            <a:r>
              <a:rPr lang="en-US" sz="1400" dirty="0"/>
              <a:t>      ]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Minimal permissions required to browse &amp; read objects in an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Covers </a:t>
            </a:r>
            <a:r>
              <a:rPr lang="en-US" sz="1400" b="1" dirty="0"/>
              <a:t>bucket-level</a:t>
            </a:r>
            <a:r>
              <a:rPr lang="en-US" sz="1400" dirty="0"/>
              <a:t> (</a:t>
            </a:r>
            <a:r>
              <a:rPr lang="en-US" sz="1400" dirty="0" err="1"/>
              <a:t>ListBucket</a:t>
            </a:r>
            <a:r>
              <a:rPr lang="en-US" sz="1400" dirty="0"/>
              <a:t>) and </a:t>
            </a:r>
            <a:r>
              <a:rPr lang="en-US" sz="1400" b="1" dirty="0"/>
              <a:t>object-level</a:t>
            </a:r>
            <a:r>
              <a:rPr lang="en-US" sz="1400" dirty="0"/>
              <a:t> (</a:t>
            </a:r>
            <a:r>
              <a:rPr lang="en-US" sz="1400" dirty="0" err="1"/>
              <a:t>GetObject</a:t>
            </a:r>
            <a:r>
              <a:rPr lang="en-US" sz="1400" dirty="0"/>
              <a:t>)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Good for read-only apps, auditors, analysts</a:t>
            </a:r>
          </a:p>
        </p:txBody>
      </p:sp>
    </p:spTree>
    <p:extLst>
      <p:ext uri="{BB962C8B-B14F-4D97-AF65-F5344CB8AC3E}">
        <p14:creationId xmlns:p14="http://schemas.microsoft.com/office/powerpoint/2010/main" val="30318448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CB49-F7C7-0AF2-6C7A-AF37369D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64C50-0DFB-D5C3-3C3F-310F49405C39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F045B-ABB7-9D38-14F9-5F9443CAC05A}"/>
              </a:ext>
            </a:extLst>
          </p:cNvPr>
          <p:cNvSpPr txBox="1"/>
          <p:nvPr/>
        </p:nvSpPr>
        <p:spPr>
          <a:xfrm>
            <a:off x="685801" y="920652"/>
            <a:ext cx="1090748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3. EC2 Start/Stop Only (No Terminate)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"Allow",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"ec2:StartInstances",</a:t>
            </a:r>
          </a:p>
          <a:p>
            <a:r>
              <a:rPr lang="en-IN" sz="1400" dirty="0"/>
              <a:t>        "ec2:StopInstances",</a:t>
            </a:r>
          </a:p>
          <a:p>
            <a:r>
              <a:rPr lang="en-IN" sz="1400" dirty="0"/>
              <a:t>        "ec2:DescribeInstances"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},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"ec2:TerminateInstances",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Granular privilege: start/stop allowed, </a:t>
            </a:r>
            <a:r>
              <a:rPr lang="en-US" sz="1400" b="1" dirty="0"/>
              <a:t>terminate denied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Explicit Deny always overrides Allow (DAD rule)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Protects critical workloads from accidental deletion</a:t>
            </a:r>
          </a:p>
        </p:txBody>
      </p:sp>
    </p:spTree>
    <p:extLst>
      <p:ext uri="{BB962C8B-B14F-4D97-AF65-F5344CB8AC3E}">
        <p14:creationId xmlns:p14="http://schemas.microsoft.com/office/powerpoint/2010/main" val="1528865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38CE-E6F5-95DF-F3B6-6B89D3DD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B1EA9-7FFF-2351-9ED0-7A3FCB99E322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9E5B4-FAD1-420C-5C48-FFDC4538EE01}"/>
              </a:ext>
            </a:extLst>
          </p:cNvPr>
          <p:cNvSpPr txBox="1"/>
          <p:nvPr/>
        </p:nvSpPr>
        <p:spPr>
          <a:xfrm>
            <a:off x="772886" y="1097280"/>
            <a:ext cx="925503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❌ Bad Practice: Full Access Policy</a:t>
            </a:r>
          </a:p>
          <a:p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"Effect": "Allow",</a:t>
            </a:r>
          </a:p>
          <a:p>
            <a:r>
              <a:rPr lang="en-US" sz="1600" dirty="0"/>
              <a:t>  "Action": "*",</a:t>
            </a:r>
          </a:p>
          <a:p>
            <a:r>
              <a:rPr lang="en-US" sz="1600" dirty="0"/>
              <a:t>  "Resource": "*"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This is Dangerous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Grants </a:t>
            </a:r>
            <a:r>
              <a:rPr lang="en-US" sz="1600" b="1" dirty="0"/>
              <a:t>full admin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restrictions -&gt; violates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single compromised user = full account compromise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Should never be used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612230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E4E8-5CA3-B2D2-492A-C4AE8618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D50FA-3537-CFCC-5102-450B2FF5260A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Policy Evaluation Logic (Recap)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975D3-BACB-02BB-AB6D-30D14280B299}"/>
              </a:ext>
            </a:extLst>
          </p:cNvPr>
          <p:cNvSpPr txBox="1"/>
          <p:nvPr/>
        </p:nvSpPr>
        <p:spPr>
          <a:xfrm>
            <a:off x="794657" y="1358537"/>
            <a:ext cx="9255034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IAM Evaluation Rules: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Default = Deny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Allow = Grants access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Deny = Always wins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Final rule:</a:t>
            </a:r>
            <a:r>
              <a:rPr lang="en-IN" sz="1600" dirty="0"/>
              <a:t> </a:t>
            </a:r>
            <a:r>
              <a:rPr lang="en-IN" sz="1600" b="1" dirty="0"/>
              <a:t>Deny → Allow → Deny</a:t>
            </a:r>
            <a:r>
              <a:rPr lang="en-IN" sz="1600" dirty="0"/>
              <a:t> (DAD Model)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Tools to Validate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Policy Simulator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Access Analyzer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CloudTrail for monitoring API actions</a:t>
            </a:r>
          </a:p>
        </p:txBody>
      </p:sp>
    </p:spTree>
    <p:extLst>
      <p:ext uri="{BB962C8B-B14F-4D97-AF65-F5344CB8AC3E}">
        <p14:creationId xmlns:p14="http://schemas.microsoft.com/office/powerpoint/2010/main" val="2322835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3435"/>
            <a:ext cx="8027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Multi-Factor Authentication (MFA)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944"/>
            <a:ext cx="884137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Why MFA?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Passwords can be </a:t>
            </a:r>
            <a:r>
              <a:rPr lang="en-IN" sz="1600" b="1" dirty="0"/>
              <a:t>stolen, guessed, or leaked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MFA adds a </a:t>
            </a:r>
            <a:r>
              <a:rPr lang="en-IN" sz="1600" b="1" dirty="0"/>
              <a:t>second layer of verification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Reduces account compromise risk by </a:t>
            </a:r>
            <a:r>
              <a:rPr lang="en-IN" sz="1600" b="1" dirty="0"/>
              <a:t>99.9%</a:t>
            </a:r>
            <a:r>
              <a:rPr lang="en-IN" sz="1600" dirty="0"/>
              <a:t> (Microsoft/AWS industry data)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Critical for protecting </a:t>
            </a:r>
            <a:r>
              <a:rPr lang="en-IN" sz="1600" b="1" dirty="0"/>
              <a:t>administrative</a:t>
            </a:r>
            <a:r>
              <a:rPr lang="en-IN" sz="1600" dirty="0"/>
              <a:t> and </a:t>
            </a:r>
            <a:r>
              <a:rPr lang="en-IN" sz="1600" b="1" dirty="0"/>
              <a:t>root</a:t>
            </a:r>
            <a:r>
              <a:rPr lang="en-IN" sz="1600" dirty="0"/>
              <a:t> access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Types of MFA on AWS</a:t>
            </a:r>
          </a:p>
          <a:p>
            <a:pPr>
              <a:spcBef>
                <a:spcPts val="600"/>
              </a:spcBef>
            </a:pPr>
            <a:r>
              <a:rPr lang="en-IN" sz="1600" b="1" dirty="0"/>
              <a:t>1️⃣ Virtual MFA Apps: </a:t>
            </a:r>
            <a:r>
              <a:rPr lang="en-IN" sz="1600" dirty="0"/>
              <a:t>Google Authenticator, Authy, Microsoft Authenticator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Free and easy to deploy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2️⃣ Hardware MFA Devices: </a:t>
            </a:r>
            <a:r>
              <a:rPr lang="en-IN" sz="1600" dirty="0"/>
              <a:t>TOTP-based key fobs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Higher physical security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AWS Best Practices: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Enable MFA on the root account immediately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Require MFA</a:t>
            </a:r>
            <a:r>
              <a:rPr lang="en-IN" sz="1600" dirty="0"/>
              <a:t> for all admin or privileged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Enforce via </a:t>
            </a:r>
            <a:r>
              <a:rPr lang="en-IN" sz="1600" b="1" dirty="0"/>
              <a:t>IAM policies</a:t>
            </a:r>
            <a:r>
              <a:rPr lang="en-IN" sz="1600" dirty="0"/>
              <a:t>, </a:t>
            </a:r>
            <a:r>
              <a:rPr lang="en-IN" sz="1600" b="1" dirty="0"/>
              <a:t>IAM Identity Center</a:t>
            </a:r>
            <a:r>
              <a:rPr lang="en-IN" sz="1600" dirty="0"/>
              <a:t>, or </a:t>
            </a:r>
            <a:r>
              <a:rPr lang="en-IN" sz="1600" b="1" dirty="0"/>
              <a:t>AWS Organizations SCPs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Keep backup MFA devices or recovery codes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E384-0BB8-2FBD-6547-ABB88D2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F665C-7448-2AA9-91FF-6E184D99099D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7C4A9-54BF-D2BB-E3E2-8DEBAA095261}"/>
              </a:ext>
            </a:extLst>
          </p:cNvPr>
          <p:cNvSpPr txBox="1"/>
          <p:nvPr/>
        </p:nvSpPr>
        <p:spPr>
          <a:xfrm>
            <a:off x="772886" y="1097280"/>
            <a:ext cx="925503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Part 1: Create policies for these scenarios:</a:t>
            </a:r>
          </a:p>
          <a:p>
            <a:r>
              <a:rPr lang="en-US" sz="1600" dirty="0"/>
              <a:t>1. Developer needs read/write to dev-* S3 buckets only</a:t>
            </a:r>
          </a:p>
          <a:p>
            <a:r>
              <a:rPr lang="en-US" sz="1600" dirty="0"/>
              <a:t>2. Auditor needs read-only access to CloudTrail logs</a:t>
            </a:r>
          </a:p>
          <a:p>
            <a:r>
              <a:rPr lang="en-US" sz="1600" dirty="0"/>
              <a:t>3. Application needs to write to DynamoDB table "users“</a:t>
            </a:r>
          </a:p>
          <a:p>
            <a:endParaRPr lang="en-US" sz="1600" dirty="0"/>
          </a:p>
          <a:p>
            <a:r>
              <a:rPr lang="en-US" sz="1600" b="1" dirty="0"/>
              <a:t>Part 2: Real-World Scenario Discussion:</a:t>
            </a:r>
          </a:p>
          <a:p>
            <a:r>
              <a:rPr lang="en-US" sz="1600" b="1" dirty="0"/>
              <a:t>Scenario:</a:t>
            </a:r>
          </a:p>
          <a:p>
            <a:r>
              <a:rPr lang="en-US" sz="1600" dirty="0"/>
              <a:t>A developer needs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code to EC2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Read/write to application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Query application DynamoDB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CloudWatch logs</a:t>
            </a:r>
          </a:p>
          <a:p>
            <a:endParaRPr lang="en-US" sz="1600" dirty="0"/>
          </a:p>
          <a:p>
            <a:r>
              <a:rPr lang="en-US" sz="1600" dirty="0"/>
              <a:t>Design the IAM setup: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groups would you create?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policies would you attach?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additional security measures?</a:t>
            </a:r>
          </a:p>
        </p:txBody>
      </p:sp>
    </p:spTree>
    <p:extLst>
      <p:ext uri="{BB962C8B-B14F-4D97-AF65-F5344CB8AC3E}">
        <p14:creationId xmlns:p14="http://schemas.microsoft.com/office/powerpoint/2010/main" val="309414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78D7-4538-EF0B-E9F9-B611753F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EA6FC-97E1-9790-8F1B-CC50859E1F16}"/>
              </a:ext>
            </a:extLst>
          </p:cNvPr>
          <p:cNvSpPr txBox="1"/>
          <p:nvPr/>
        </p:nvSpPr>
        <p:spPr>
          <a:xfrm>
            <a:off x="1238994" y="2068286"/>
            <a:ext cx="8494633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Advanced Security Services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multi-account strategies with AWS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secrets securely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encryption with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threat detection and protection</a:t>
            </a:r>
          </a:p>
        </p:txBody>
      </p:sp>
    </p:spTree>
    <p:extLst>
      <p:ext uri="{BB962C8B-B14F-4D97-AF65-F5344CB8AC3E}">
        <p14:creationId xmlns:p14="http://schemas.microsoft.com/office/powerpoint/2010/main" val="3633891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1" y="1097280"/>
            <a:ext cx="1092925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🏢 What is AWS Organizations?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service that lets you </a:t>
            </a:r>
            <a:r>
              <a:rPr lang="en-US" sz="1600" b="1" dirty="0"/>
              <a:t>centrally manage multiple AWS accounts</a:t>
            </a:r>
            <a:r>
              <a:rPr lang="en-US" sz="1600" dirty="0"/>
              <a:t> under one unified structure.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Benefits: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Consolidated Billing: </a:t>
            </a:r>
            <a:r>
              <a:rPr lang="en-US" sz="1600" dirty="0"/>
              <a:t>Single bill, shared discounts (Savings Plans, RI sharing)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Hierarchical Account Structure: 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Organize accounts by business unit, environment, or function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Organizational Units (OUs): Logical containers to group accounts and apply policies consistently</a:t>
            </a:r>
            <a:endParaRPr lang="en-US" sz="16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Governance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Apply </a:t>
            </a:r>
            <a:r>
              <a:rPr lang="en-US" sz="1600" b="1" dirty="0"/>
              <a:t>SCPs (Service Control Policies)</a:t>
            </a:r>
            <a:r>
              <a:rPr lang="en-US" sz="1600" dirty="0"/>
              <a:t> across accounts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Enforce guardrails (no unapproved services, mandatory MFA,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Environment Separation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Isolate </a:t>
            </a:r>
            <a:r>
              <a:rPr lang="en-US" sz="1600" b="1" dirty="0"/>
              <a:t>dev / staging / prod</a:t>
            </a:r>
            <a:r>
              <a:rPr lang="en-US" sz="1600" dirty="0"/>
              <a:t> to reduce blast radius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Easier security, compliance, &amp; auditing per environment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Best Practice:</a:t>
            </a:r>
            <a:r>
              <a:rPr lang="en-US" sz="1600" dirty="0"/>
              <a:t> Treat every environment as its own AWS account - then manage them centrally using Organizations + OUs + SCPs.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Organizational Units (OUs)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762001" y="1097280"/>
            <a:ext cx="610688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🗂️ What Are Organizational Units?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way to </a:t>
            </a:r>
            <a:r>
              <a:rPr lang="en-US" sz="1600" b="1" dirty="0"/>
              <a:t>group multiple AWS accounts</a:t>
            </a:r>
            <a:r>
              <a:rPr lang="en-US" sz="1600" dirty="0"/>
              <a:t> inside AWS Organizations to apply governance, structure, and consistent security controls.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Use OUs?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Apply policies at scale: </a:t>
            </a:r>
            <a:r>
              <a:rPr lang="en-US" sz="1600" dirty="0"/>
              <a:t>Attach </a:t>
            </a:r>
            <a:r>
              <a:rPr lang="en-US" sz="1600" b="1" dirty="0"/>
              <a:t>SCPs</a:t>
            </a:r>
            <a:r>
              <a:rPr lang="en-US" sz="1600" dirty="0"/>
              <a:t> to an OU -&gt; every account under it inherits the guardrails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Logical grouping: </a:t>
            </a:r>
            <a:r>
              <a:rPr lang="en-US" sz="1600" dirty="0"/>
              <a:t>Organize accounts by </a:t>
            </a:r>
            <a:r>
              <a:rPr lang="en-US" sz="1600" b="1" dirty="0"/>
              <a:t>environment, workload, business unit, or compliance level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 for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</a:t>
            </a:r>
            <a:r>
              <a:rPr lang="en-US" sz="1600" b="1" dirty="0"/>
              <a:t>separate OUs per environment</a:t>
            </a:r>
            <a:r>
              <a:rPr lang="en-US" sz="1600" dirty="0"/>
              <a:t> (Prod, Dev, Sandbox)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Move </a:t>
            </a:r>
            <a:r>
              <a:rPr lang="en-US" sz="1600" b="1" dirty="0"/>
              <a:t>security accounts</a:t>
            </a:r>
            <a:r>
              <a:rPr lang="en-US" sz="1600" dirty="0"/>
              <a:t> (Logging, Audit, IAM Identity) into a dedicated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strong SCPs</a:t>
            </a:r>
            <a:r>
              <a:rPr lang="en-US" sz="1600" dirty="0"/>
              <a:t> at the root → loosen as needed at lower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the hierarchy </a:t>
            </a:r>
            <a:r>
              <a:rPr lang="en-US" sz="1600" b="1" dirty="0"/>
              <a:t>simple and predictable</a:t>
            </a:r>
            <a:r>
              <a:rPr lang="en-US" sz="1600" dirty="0"/>
              <a:t> (avoid over-nesting)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naming conventions</a:t>
            </a:r>
            <a:r>
              <a:rPr lang="en-US" sz="1600" dirty="0"/>
              <a:t> for OUs and accounts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BF33-87D1-271D-91A7-DB8C8098F54B}"/>
              </a:ext>
            </a:extLst>
          </p:cNvPr>
          <p:cNvSpPr txBox="1"/>
          <p:nvPr/>
        </p:nvSpPr>
        <p:spPr>
          <a:xfrm>
            <a:off x="7554685" y="1328057"/>
            <a:ext cx="4060371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OU Structure Example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Root Org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Production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prod-app-account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prod-data-account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Development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dev-app-account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dev-test-account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Security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logging-account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audit-account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└── Sandbox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       └── experimental accounts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Are SCPs?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Permission guardrails</a:t>
            </a:r>
            <a:r>
              <a:rPr lang="en-US" sz="1600" dirty="0"/>
              <a:t> that set the </a:t>
            </a:r>
            <a:r>
              <a:rPr lang="en-US" sz="1600" i="1" dirty="0"/>
              <a:t>maximum allowed permissions</a:t>
            </a:r>
            <a:r>
              <a:rPr lang="en-US" sz="1600" dirty="0"/>
              <a:t> for AWS accounts within an Organization.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Do NOT grant permissions</a:t>
            </a:r>
            <a:r>
              <a:rPr lang="en-US" sz="1600" dirty="0"/>
              <a:t> - they only </a:t>
            </a:r>
            <a:r>
              <a:rPr lang="en-US" sz="1600" b="1" dirty="0"/>
              <a:t>limit</a:t>
            </a:r>
            <a:r>
              <a:rPr lang="en-US" sz="1600" dirty="0"/>
              <a:t> what IAM users/roles </a:t>
            </a:r>
            <a:r>
              <a:rPr lang="en-US" sz="1600" i="1" dirty="0"/>
              <a:t>could</a:t>
            </a:r>
            <a:r>
              <a:rPr lang="en-US" sz="1600" dirty="0"/>
              <a:t> be granted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Applied at the </a:t>
            </a:r>
            <a:r>
              <a:rPr lang="en-US" sz="1600" b="1" dirty="0"/>
              <a:t>Organization Root</a:t>
            </a:r>
            <a:r>
              <a:rPr lang="en-US" sz="1600" dirty="0"/>
              <a:t>, </a:t>
            </a:r>
            <a:r>
              <a:rPr lang="en-US" sz="1600" b="1" dirty="0"/>
              <a:t>OU</a:t>
            </a:r>
            <a:r>
              <a:rPr lang="en-US" sz="1600" dirty="0"/>
              <a:t>, or </a:t>
            </a:r>
            <a:r>
              <a:rPr lang="en-US" sz="1600" b="1" dirty="0"/>
              <a:t>individual accounts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Root user is also restricted</a:t>
            </a:r>
            <a:r>
              <a:rPr lang="en-US" sz="1600" dirty="0"/>
              <a:t> by SCPs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Enforced across all accounts under the targeted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Works together with IAM policies (IAM decides </a:t>
            </a:r>
            <a:r>
              <a:rPr lang="en-US" sz="1600" i="1" dirty="0"/>
              <a:t>who</a:t>
            </a:r>
            <a:r>
              <a:rPr lang="en-US" sz="1600" dirty="0"/>
              <a:t>, SCPs decide </a:t>
            </a:r>
            <a:r>
              <a:rPr lang="en-US" sz="1600" i="1" dirty="0"/>
              <a:t>what’s allowed at all</a:t>
            </a:r>
            <a:r>
              <a:rPr lang="en-US" sz="1600" dirty="0"/>
              <a:t>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Region Restrictions: </a:t>
            </a:r>
            <a:r>
              <a:rPr lang="en-US" sz="1600" dirty="0"/>
              <a:t>Block use of non-approved AWS regions (e.g., only allow eu-west-1)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Security Enforcement: </a:t>
            </a:r>
            <a:r>
              <a:rPr lang="en-US" sz="1600" dirty="0"/>
              <a:t>Prevent disabling CloudTrail, </a:t>
            </a:r>
            <a:r>
              <a:rPr lang="en-US" sz="1600" dirty="0" err="1"/>
              <a:t>GuardDuty</a:t>
            </a:r>
            <a:r>
              <a:rPr lang="en-US" sz="1600" dirty="0"/>
              <a:t>, or Config, Require encryption for S3, EBS, RDS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Cost Control: </a:t>
            </a:r>
            <a:r>
              <a:rPr lang="en-US" sz="1600" dirty="0"/>
              <a:t>Restrict specific EC2 instance types, Prevent creation of expensive GPU instances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Practice: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Use SCPs as </a:t>
            </a:r>
            <a:r>
              <a:rPr lang="en-US" sz="1600" b="1" dirty="0"/>
              <a:t>organization-wide guardrails</a:t>
            </a:r>
            <a:r>
              <a:rPr lang="en-US" sz="1600" dirty="0"/>
              <a:t>, and IAM policies for </a:t>
            </a:r>
            <a:r>
              <a:rPr lang="en-US" sz="1600" b="1" dirty="0"/>
              <a:t>fine-grained permissions</a:t>
            </a:r>
            <a:r>
              <a:rPr lang="en-US" sz="1600" dirty="0"/>
              <a:t> within accounts.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D131-D1D1-5E5D-E034-2ECF27EE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486BC-8AF6-A339-6908-3A7041B1C5FA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5310C-AD81-A6CD-731C-4EB6478BECB9}"/>
              </a:ext>
            </a:extLst>
          </p:cNvPr>
          <p:cNvSpPr txBox="1"/>
          <p:nvPr/>
        </p:nvSpPr>
        <p:spPr>
          <a:xfrm>
            <a:off x="653143" y="1097280"/>
            <a:ext cx="526868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1️⃣ Prevents accounts from operating in any region </a:t>
            </a:r>
            <a:r>
              <a:rPr lang="en-US" sz="1600" i="1" dirty="0"/>
              <a:t>except</a:t>
            </a:r>
            <a:r>
              <a:rPr lang="en-US" sz="1600" dirty="0"/>
              <a:t> the ones explicitly allowed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"*",</a:t>
            </a:r>
          </a:p>
          <a:p>
            <a:r>
              <a:rPr lang="en-IN" sz="1400" dirty="0"/>
              <a:t>      "Resource": "*",</a:t>
            </a:r>
          </a:p>
          <a:p>
            <a:r>
              <a:rPr lang="en-IN" sz="1400" dirty="0"/>
              <a:t>      "Condition": {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StringNotEquals</a:t>
            </a:r>
            <a:r>
              <a:rPr lang="en-IN" sz="1400" dirty="0"/>
              <a:t>": {</a:t>
            </a:r>
          </a:p>
          <a:p>
            <a:r>
              <a:rPr lang="en-IN" sz="1400" dirty="0"/>
              <a:t>          "</a:t>
            </a:r>
            <a:r>
              <a:rPr lang="en-IN" sz="1400" dirty="0" err="1"/>
              <a:t>aws:RequestedRegion</a:t>
            </a:r>
            <a:r>
              <a:rPr lang="en-IN" sz="1400" dirty="0"/>
              <a:t>": [</a:t>
            </a:r>
          </a:p>
          <a:p>
            <a:r>
              <a:rPr lang="en-IN" sz="1400" dirty="0"/>
              <a:t>            "us-east-1",</a:t>
            </a:r>
          </a:p>
          <a:p>
            <a:r>
              <a:rPr lang="en-IN" sz="1400" dirty="0"/>
              <a:t>            "eu-west-1"</a:t>
            </a:r>
          </a:p>
          <a:p>
            <a:r>
              <a:rPr lang="en-IN" sz="1400" dirty="0"/>
              <a:t>          ]</a:t>
            </a:r>
          </a:p>
          <a:p>
            <a:r>
              <a:rPr lang="en-IN" sz="1400" dirty="0"/>
              <a:t>        }</a:t>
            </a:r>
          </a:p>
          <a:p>
            <a:r>
              <a:rPr lang="en-IN" sz="1400" dirty="0"/>
              <a:t>      }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Use Case: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Enforce compliance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Avoid accidental deployments in costly or unsupported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latency control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043D-54F0-A5FD-0537-B7F1493F2F1C}"/>
              </a:ext>
            </a:extLst>
          </p:cNvPr>
          <p:cNvSpPr txBox="1"/>
          <p:nvPr/>
        </p:nvSpPr>
        <p:spPr>
          <a:xfrm>
            <a:off x="6923314" y="1092646"/>
            <a:ext cx="496388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2️⃣ </a:t>
            </a:r>
            <a:r>
              <a:rPr lang="en-US" sz="1600" dirty="0"/>
              <a:t>Ensures CloudTrail logging can </a:t>
            </a:r>
            <a:r>
              <a:rPr lang="en-US" sz="1600" b="1" dirty="0"/>
              <a:t>never</a:t>
            </a:r>
            <a:r>
              <a:rPr lang="en-US" sz="1600" dirty="0"/>
              <a:t> be turned off</a:t>
            </a:r>
            <a:endParaRPr lang="en-IN" sz="1600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cloudtrail:StopLogging</a:t>
            </a:r>
            <a:r>
              <a:rPr lang="en-IN" sz="1400" dirty="0"/>
              <a:t>",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cloudtrail:DeleteTrail</a:t>
            </a:r>
            <a:r>
              <a:rPr lang="en-IN" sz="1400" dirty="0"/>
              <a:t>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dirty="0"/>
          </a:p>
          <a:p>
            <a:r>
              <a:rPr lang="en-US" sz="1400" b="1" dirty="0"/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Mandatory audit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Compliance frameworks (SOC 2, ISO 27001, PCI-DSS)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Prevent insider threats or accidental disablement</a:t>
            </a:r>
            <a:br>
              <a:rPr lang="en-IN" sz="1400" b="1" dirty="0"/>
            </a:b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0539565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943" y="274321"/>
            <a:ext cx="9236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Key Management Service (KMS)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943" y="920652"/>
            <a:ext cx="11081657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What is AWS KMS?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managed service that allows you to </a:t>
            </a:r>
            <a:r>
              <a:rPr lang="en-IN" sz="1600" b="1" dirty="0"/>
              <a:t>create, control, and manage encryption keys</a:t>
            </a:r>
            <a:r>
              <a:rPr lang="en-IN" sz="1600" dirty="0"/>
              <a:t> used to protect your data across AWS.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Types in KMS: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Managed Keys (</a:t>
            </a:r>
            <a:r>
              <a:rPr lang="en-IN" sz="1600" b="1" dirty="0" err="1"/>
              <a:t>aws</a:t>
            </a:r>
            <a:r>
              <a:rPr lang="en-IN" sz="1600" b="1" dirty="0"/>
              <a:t>/*)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No cost, automatically created by services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AWS handles rotation and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 Managed Keys (</a:t>
            </a:r>
            <a:r>
              <a:rPr lang="en-IN" sz="1600" b="1" dirty="0" err="1"/>
              <a:t>cmk</a:t>
            </a:r>
            <a:r>
              <a:rPr lang="en-IN" sz="1600" b="1" dirty="0"/>
              <a:t>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 control over key policies, rotation, permissions, lifecycle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Ideal for compliance and granular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Owned Keys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Fully abstracted, not visible to customers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Used when encryption is required but key management is handled entirely by AWS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Common AWS Use Cases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EBS volumes</a:t>
            </a:r>
            <a:r>
              <a:rPr lang="en-IN" sz="1600" dirty="0"/>
              <a:t> (EBS-KMS integration)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S3 buckets</a:t>
            </a:r>
            <a:r>
              <a:rPr lang="en-IN" sz="1600" dirty="0"/>
              <a:t> (SSE-KMS)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RDS databases</a:t>
            </a:r>
            <a:r>
              <a:rPr lang="en-IN" sz="1600" dirty="0"/>
              <a:t> (KMS-backed storage encryption)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Secrets Manager secrets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✓ Encrypt SQS queues, EFS, Glue, Lambda env vars, Redshift, etc.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571" y="1034142"/>
            <a:ext cx="9320349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🔐 What is AWS Secrets Manager?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fully managed service to </a:t>
            </a:r>
            <a:r>
              <a:rPr lang="en-US" sz="1600" b="1" dirty="0"/>
              <a:t>securely store, manage, and automatically rotate</a:t>
            </a:r>
            <a:r>
              <a:rPr lang="en-US" sz="1600" dirty="0"/>
              <a:t> secrets used by applications.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</a:t>
            </a:r>
            <a:r>
              <a:rPr lang="en-US" sz="1600" b="1" dirty="0"/>
              <a:t>database credentials</a:t>
            </a:r>
            <a:r>
              <a:rPr lang="en-US" sz="1600" dirty="0"/>
              <a:t>, </a:t>
            </a:r>
            <a:r>
              <a:rPr lang="en-US" sz="1600" b="1" dirty="0"/>
              <a:t>API keys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Automatic secret rotation</a:t>
            </a:r>
            <a:r>
              <a:rPr lang="en-US" sz="1600" dirty="0"/>
              <a:t> (built-in for RDS; customizable via Lambda)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Encryption at rest</a:t>
            </a:r>
            <a:r>
              <a:rPr lang="en-US" sz="1600" dirty="0"/>
              <a:t> using AWS KMS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Fine-grained IAM access control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</a:t>
            </a:r>
            <a:r>
              <a:rPr lang="en-US" sz="1600" b="1" dirty="0"/>
              <a:t>secret versioning</a:t>
            </a:r>
            <a:r>
              <a:rPr lang="en-US" sz="1600" dirty="0"/>
              <a:t> and staged updates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How Secrets Manager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Store the secret</a:t>
            </a:r>
            <a:r>
              <a:rPr lang="en-US" sz="1600" dirty="0"/>
              <a:t> in Secrets Manager </a:t>
            </a:r>
            <a:r>
              <a:rPr lang="en-IN" sz="1600" dirty="0"/>
              <a:t>(encrypted with KMS)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requests the secret</a:t>
            </a:r>
            <a:r>
              <a:rPr lang="en-US" sz="1600" dirty="0"/>
              <a:t> using an </a:t>
            </a:r>
            <a:r>
              <a:rPr lang="en-US" sz="1600" b="1" dirty="0"/>
              <a:t>IAM role</a:t>
            </a:r>
            <a:r>
              <a:rPr lang="en-US" sz="1600" dirty="0"/>
              <a:t> (no hardcoded credentials)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Secrets Manager </a:t>
            </a:r>
            <a:r>
              <a:rPr lang="en-US" sz="1600" b="1" dirty="0"/>
              <a:t>returns the decrypted value</a:t>
            </a:r>
            <a:r>
              <a:rPr lang="en-US" sz="1600" dirty="0"/>
              <a:t> securely over TLS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34CF-480D-79ED-D58A-9EBCB403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433A0-E2F4-D678-2184-0F0BC8F377E6}"/>
              </a:ext>
            </a:extLst>
          </p:cNvPr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C3D73-EC87-79B6-AB28-7D49E959CF57}"/>
              </a:ext>
            </a:extLst>
          </p:cNvPr>
          <p:cNvSpPr txBox="1"/>
          <p:nvPr/>
        </p:nvSpPr>
        <p:spPr>
          <a:xfrm>
            <a:off x="598714" y="1023257"/>
            <a:ext cx="1073331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🔐 Example: Storing a Database Password</a:t>
            </a:r>
          </a:p>
          <a:p>
            <a:r>
              <a:rPr lang="en-US" sz="1600" dirty="0"/>
              <a:t># Create a secret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create-secret --name prod/</a:t>
            </a:r>
            <a:r>
              <a:rPr lang="en-US" sz="1600" dirty="0" err="1"/>
              <a:t>db</a:t>
            </a:r>
            <a:r>
              <a:rPr lang="en-US" sz="1600" dirty="0"/>
              <a:t>/password --secret-string '{"username":"admin","password":"</a:t>
            </a:r>
            <a:r>
              <a:rPr lang="en-US" sz="1600" dirty="0" err="1"/>
              <a:t>MySecureP@ss</a:t>
            </a:r>
            <a:r>
              <a:rPr lang="en-US" sz="1600" dirty="0"/>
              <a:t>"}'</a:t>
            </a:r>
          </a:p>
          <a:p>
            <a:endParaRPr lang="en-US" sz="1600" dirty="0"/>
          </a:p>
          <a:p>
            <a:r>
              <a:rPr lang="en-US" sz="1600" dirty="0"/>
              <a:t># Retrieve secret (application or CLI)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get-secret-value --secret-id prod/</a:t>
            </a:r>
            <a:r>
              <a:rPr lang="en-US" sz="1600" dirty="0" err="1"/>
              <a:t>db</a:t>
            </a:r>
            <a:r>
              <a:rPr lang="en-US" sz="1600" dirty="0"/>
              <a:t>/password </a:t>
            </a:r>
          </a:p>
          <a:p>
            <a:endParaRPr lang="en-US" sz="1600" b="1" dirty="0"/>
          </a:p>
          <a:p>
            <a:r>
              <a:rPr lang="en-US" sz="1600" b="1" dirty="0"/>
              <a:t>What this shows: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are stored </a:t>
            </a:r>
            <a:r>
              <a:rPr lang="en-US" sz="1600" b="1" dirty="0"/>
              <a:t>securely, </a:t>
            </a:r>
            <a:r>
              <a:rPr lang="en-IN" sz="1600" dirty="0"/>
              <a:t>encrypted with KMS </a:t>
            </a:r>
            <a:r>
              <a:rPr lang="en-US" sz="1600" dirty="0"/>
              <a:t>and never in plaintext config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Applications retrieve secrets using </a:t>
            </a:r>
            <a:r>
              <a:rPr lang="en-US" sz="1600" b="1" dirty="0"/>
              <a:t>IAM roles</a:t>
            </a:r>
            <a:r>
              <a:rPr lang="en-US" sz="1600" dirty="0"/>
              <a:t>, not embedded credentials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🔁 Automatic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Manager can rotate secrets automatically with minimal application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Built-in rotation support for: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RDS</a:t>
            </a:r>
            <a:r>
              <a:rPr lang="en-US" sz="1600" dirty="0"/>
              <a:t> (MySQL, Postgres, Aurora)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Redshift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DocumentDB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Custom rotation available via Lambda</a:t>
            </a:r>
            <a:r>
              <a:rPr lang="en-US" sz="1600" dirty="0"/>
              <a:t> for any other service or custom credential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Rotation Intervals: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Common: </a:t>
            </a:r>
            <a:r>
              <a:rPr lang="en-US" sz="1600" b="1" dirty="0"/>
              <a:t>30 / 60 / 90 days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Can be fully customized</a:t>
            </a:r>
          </a:p>
        </p:txBody>
      </p:sp>
    </p:spTree>
    <p:extLst>
      <p:ext uri="{BB962C8B-B14F-4D97-AF65-F5344CB8AC3E}">
        <p14:creationId xmlns:p14="http://schemas.microsoft.com/office/powerpoint/2010/main" val="6218911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3514" y="274321"/>
            <a:ext cx="3298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WAF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514" y="920652"/>
            <a:ext cx="108204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🌐 What is AWS WAF?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</a:t>
            </a:r>
            <a:r>
              <a:rPr lang="en-IN" sz="1600" b="1" dirty="0"/>
              <a:t>Web Application Firewall</a:t>
            </a:r>
            <a:r>
              <a:rPr lang="en-IN" sz="1600" dirty="0"/>
              <a:t> that protects web applications from </a:t>
            </a:r>
            <a:r>
              <a:rPr lang="en-IN" sz="1600" b="1" dirty="0"/>
              <a:t>Layer 7 (HTTP/S)</a:t>
            </a:r>
            <a:r>
              <a:rPr lang="en-IN" sz="1600" dirty="0"/>
              <a:t> attacks and unwanted traffic patterns.</a:t>
            </a:r>
          </a:p>
          <a:p>
            <a:br>
              <a:rPr lang="en-IN" sz="1600" dirty="0"/>
            </a:br>
            <a:r>
              <a:rPr lang="en-IN" sz="1600" b="1" dirty="0"/>
              <a:t>Protects Against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 Injection (SQLi)</a:t>
            </a:r>
            <a:r>
              <a:rPr lang="en-IN" sz="1600" dirty="0"/>
              <a:t>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Cross-Site Scripting (XSS)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Bot &amp; crawler traffic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Credential stuffing / brute force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Request rate spikes</a:t>
            </a:r>
            <a:r>
              <a:rPr lang="en-IN" sz="1600" dirty="0"/>
              <a:t> (</a:t>
            </a:r>
            <a:r>
              <a:rPr lang="en-IN" sz="1600" i="1" dirty="0"/>
              <a:t>rate limiting</a:t>
            </a:r>
            <a:r>
              <a:rPr lang="en-I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Geo-restrictions / geo-blocking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Rule Types: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9CDA3-35D5-B2A6-DD27-302D1CF406A9}"/>
              </a:ext>
            </a:extLst>
          </p:cNvPr>
          <p:cNvSpPr txBox="1"/>
          <p:nvPr/>
        </p:nvSpPr>
        <p:spPr>
          <a:xfrm>
            <a:off x="903514" y="4452257"/>
            <a:ext cx="4844143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1️⃣ Managed Rule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</a:t>
            </a:r>
            <a:r>
              <a:rPr lang="en-IN" sz="1600" dirty="0"/>
              <a:t> (e.g., </a:t>
            </a:r>
            <a:r>
              <a:rPr lang="en-IN" sz="1600" dirty="0" err="1"/>
              <a:t>AWSManagedRulesCommonRuleSet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 Marketplace Vendors</a:t>
            </a:r>
            <a:r>
              <a:rPr lang="en-IN" sz="1600" dirty="0"/>
              <a:t> (F5, Fortinet, Sophos,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Continuously updated: new threat signatures added automatically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05CB6-8036-E45D-16DA-988B2DBDDDFA}"/>
              </a:ext>
            </a:extLst>
          </p:cNvPr>
          <p:cNvSpPr txBox="1"/>
          <p:nvPr/>
        </p:nvSpPr>
        <p:spPr>
          <a:xfrm>
            <a:off x="6672943" y="4332514"/>
            <a:ext cx="505097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2️⃣ Custom Rules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IP allow/block lists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Rate-based rules (e.g., block &gt;100 requests/min/IP)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Header / URI / query string inspection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Regex pattern matching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Country/Geo-based blocking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5171" y="274321"/>
            <a:ext cx="4018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5171" y="1108166"/>
            <a:ext cx="11299372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is AWS Shield?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managed service that protects applications running on AWS from </a:t>
            </a:r>
            <a:r>
              <a:rPr lang="en-US" sz="1600" b="1" dirty="0"/>
              <a:t>DDoS attacks</a:t>
            </a:r>
            <a:r>
              <a:rPr lang="en-US" sz="1600" dirty="0"/>
              <a:t> (Layer 3/4 and some Layer 7 scenarios).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dirty="0"/>
              <a:t>Available in 2 options: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r>
              <a:rPr lang="en-US" sz="1600" b="1" dirty="0"/>
              <a:t>1.) Shield Standard (Free / Default): </a:t>
            </a:r>
            <a:r>
              <a:rPr lang="en-US" sz="1600" dirty="0"/>
              <a:t>Automatically enabled for </a:t>
            </a:r>
            <a:r>
              <a:rPr lang="en-US" sz="1600" b="1" dirty="0"/>
              <a:t>all AWS customers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Protects against </a:t>
            </a:r>
            <a:r>
              <a:rPr lang="en-US" sz="1600" b="1" dirty="0"/>
              <a:t>common network &amp; transport layer attacks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SYN/UDP floods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Reflection attacks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Port exhaustion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with CloudFront, Route 53, and Global Accelerator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setup required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2.) Shield Advanced ($3,000/month per org) with Enhanced DDoS detection &amp; mitigation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Protection for: CloudFront, Route 53, Global Accelerator, ALB / NLB, Elastic IPs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24/7 access to AWS DDoS Response Team (DRT)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Cost protection</a:t>
            </a:r>
            <a:r>
              <a:rPr lang="en-US" sz="1600" dirty="0"/>
              <a:t> during DDoS attacks</a:t>
            </a:r>
            <a:br>
              <a:rPr lang="en-US" sz="1600" dirty="0"/>
            </a:br>
            <a:r>
              <a:rPr lang="en-US" sz="1600" dirty="0"/>
              <a:t>(Credits for scaling costs triggered by the attack)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Detailed attack diagnostics &amp; real-time visibility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492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</a:t>
            </a:r>
            <a:r>
              <a:rPr sz="3600" dirty="0" err="1"/>
              <a:t>GuardDuty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7700" y="1066800"/>
            <a:ext cx="108966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🛡️ What is </a:t>
            </a:r>
            <a:r>
              <a:rPr lang="en-IN" sz="1600" b="1" dirty="0" err="1"/>
              <a:t>GuardDuty</a:t>
            </a:r>
            <a:r>
              <a:rPr lang="en-IN" sz="1600" b="1" dirty="0"/>
              <a:t>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fully managed, </a:t>
            </a:r>
            <a:r>
              <a:rPr lang="en-IN" sz="1600" b="1" dirty="0"/>
              <a:t>intelligent threat detection</a:t>
            </a:r>
            <a:r>
              <a:rPr lang="en-IN" sz="1600" dirty="0"/>
              <a:t> service that continuously monitors your AWS environment for malicious or suspicious activity.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Machine-learning based</a:t>
            </a:r>
            <a:r>
              <a:rPr lang="en-IN" sz="1600" dirty="0"/>
              <a:t> anomaly detection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Continuous monitoring</a:t>
            </a:r>
            <a:r>
              <a:rPr lang="en-IN" sz="1600" dirty="0"/>
              <a:t> (no agents required)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Correlates data from </a:t>
            </a:r>
            <a:r>
              <a:rPr lang="en-IN" sz="1600" b="1" dirty="0"/>
              <a:t>VPC Flow Logs</a:t>
            </a:r>
            <a:r>
              <a:rPr lang="en-IN" sz="1600" dirty="0"/>
              <a:t>, </a:t>
            </a:r>
            <a:r>
              <a:rPr lang="en-IN" sz="1600" b="1" dirty="0"/>
              <a:t>CloudTrail Management &amp; Data Events</a:t>
            </a:r>
            <a:r>
              <a:rPr lang="en-IN" sz="1600" dirty="0"/>
              <a:t>, </a:t>
            </a:r>
            <a:r>
              <a:rPr lang="en-IN" sz="1600" b="1" dirty="0"/>
              <a:t>DNS query logs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Integrates with </a:t>
            </a:r>
            <a:r>
              <a:rPr lang="en-IN" sz="1600" b="1" dirty="0"/>
              <a:t>Security Hub</a:t>
            </a:r>
            <a:r>
              <a:rPr lang="en-IN" sz="1600" dirty="0"/>
              <a:t>, </a:t>
            </a:r>
            <a:r>
              <a:rPr lang="en-IN" sz="1600" b="1" dirty="0" err="1"/>
              <a:t>EventBridge</a:t>
            </a:r>
            <a:r>
              <a:rPr lang="en-IN" sz="1600" dirty="0"/>
              <a:t>, and </a:t>
            </a:r>
            <a:r>
              <a:rPr lang="en-IN" sz="1600" b="1" dirty="0"/>
              <a:t>Lambda</a:t>
            </a:r>
            <a:r>
              <a:rPr lang="en-IN" sz="1600" dirty="0"/>
              <a:t> for automated response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 err="1"/>
              <a:t>GuardDuty</a:t>
            </a:r>
            <a:r>
              <a:rPr lang="en-IN" sz="1600" b="1" dirty="0"/>
              <a:t> Detects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Compromised EC2 instances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Unauthorized access attempts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Credential compromise</a:t>
            </a:r>
            <a:r>
              <a:rPr lang="en-IN" sz="1600" dirty="0"/>
              <a:t> (e.g., impossible travel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Unusual or suspicious API activity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Malicious DNS requests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Reconnaissance</a:t>
            </a:r>
            <a:r>
              <a:rPr lang="en-IN" sz="1600" dirty="0"/>
              <a:t> (port scans, probing)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887" y="274321"/>
            <a:ext cx="772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AWS </a:t>
            </a:r>
            <a:r>
              <a:rPr sz="3600" dirty="0"/>
              <a:t>Security Services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2887" y="1097280"/>
            <a:ext cx="9255033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600" b="1" dirty="0"/>
              <a:t>🛡️ AWS Shield - DDoS Protection (Layer 3/4)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large-scale network attacks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Shield Standard (free) + Shield Advanced (24/7 DRT, cost protection)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🔥 AWS WAF - Web Application Firewall (Layer 7)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SQLi, XSS, bot attacks, rate limiting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Managed rules + custom rules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🔍 Amazon </a:t>
            </a:r>
            <a:r>
              <a:rPr lang="en-IN" sz="1600" b="1" dirty="0" err="1"/>
              <a:t>GuardDuty</a:t>
            </a:r>
            <a:r>
              <a:rPr lang="en-IN" sz="1600" b="1" dirty="0"/>
              <a:t> - Threat Detection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ML-powered continuous monitoring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Detects compromised credentials, malware, crypto-mining, unusual API calls</a:t>
            </a:r>
          </a:p>
          <a:p>
            <a:pPr>
              <a:spcBef>
                <a:spcPts val="300"/>
              </a:spcBef>
            </a:pPr>
            <a:endParaRPr lang="en-IN" sz="1600" b="1" dirty="0"/>
          </a:p>
          <a:p>
            <a:pPr>
              <a:spcBef>
                <a:spcPts val="300"/>
              </a:spcBef>
            </a:pPr>
            <a:r>
              <a:rPr lang="en-IN" sz="1600" b="1" dirty="0"/>
              <a:t>🔐 AWS KMS - Encryption Key Management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Create &amp; manage encryption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Essential for S3, EBS, RDS, Secrets Manager, SQS, EFS encryption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🔑 AWS Secrets Manager - Secret Storage &amp; Rotation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Secure storage for DB passwords, API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Automatic rotation, policy control, auditing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344" y="252550"/>
            <a:ext cx="7598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667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Choose Regions with the 4 C’s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Compliance</a:t>
            </a:r>
            <a:r>
              <a:rPr lang="en-US" sz="1600" dirty="0"/>
              <a:t> (data residency, regulations)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 (regional pricing differences)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Closeness</a:t>
            </a:r>
            <a:r>
              <a:rPr lang="en-US" sz="1600" dirty="0"/>
              <a:t> (latency to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Capacity</a:t>
            </a:r>
            <a:r>
              <a:rPr lang="en-US" sz="1600" dirty="0"/>
              <a:t> (service availability &amp; AZ count)</a:t>
            </a:r>
          </a:p>
          <a:p>
            <a:br>
              <a:rPr lang="en-US" sz="1600" dirty="0"/>
            </a:br>
            <a:r>
              <a:rPr lang="en-US" sz="1600" b="1" dirty="0"/>
              <a:t>Master the Shared Responsibility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AWS secures the cloud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You secure in the cloud</a:t>
            </a:r>
            <a:r>
              <a:rPr lang="en-US" sz="1600" dirty="0"/>
              <a:t> (identity, data, configs)</a:t>
            </a:r>
          </a:p>
          <a:p>
            <a:endParaRPr lang="en-US" sz="1600" dirty="0"/>
          </a:p>
          <a:p>
            <a:r>
              <a:rPr lang="en-US" sz="1600" b="1" dirty="0"/>
              <a:t>Use the Well-Architected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all </a:t>
            </a:r>
            <a:r>
              <a:rPr lang="en-US" sz="1600" b="1" dirty="0"/>
              <a:t>6 pillars</a:t>
            </a:r>
            <a:r>
              <a:rPr lang="en-US" sz="1600" dirty="0"/>
              <a:t> to every architecture: Operational Excellence, Security, Reliability, Performance, Cost Optimization, Sustainability</a:t>
            </a:r>
          </a:p>
          <a:p>
            <a:endParaRPr lang="en-US" sz="1600" dirty="0"/>
          </a:p>
          <a:p>
            <a:r>
              <a:rPr lang="en-US" sz="1600" b="1" dirty="0"/>
              <a:t>Follow IAM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Enforce </a:t>
            </a:r>
            <a:r>
              <a:rPr lang="en-US" sz="1600" b="1" dirty="0"/>
              <a:t>least privilege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Prefer </a:t>
            </a:r>
            <a:r>
              <a:rPr lang="en-US" sz="1600" b="1" dirty="0"/>
              <a:t>roles</a:t>
            </a:r>
            <a:r>
              <a:rPr lang="en-US" sz="1600" dirty="0"/>
              <a:t> over IAM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Rotate credentials and audit regularly</a:t>
            </a:r>
          </a:p>
          <a:p>
            <a:br>
              <a:rPr lang="en-US" sz="1600" dirty="0"/>
            </a:br>
            <a:r>
              <a:rPr lang="en-US" sz="1600" b="1" dirty="0"/>
              <a:t>Adopt Defense-in-Depth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Layer services such as </a:t>
            </a:r>
            <a:r>
              <a:rPr lang="en-US" sz="1600" b="1" dirty="0"/>
              <a:t>Shield</a:t>
            </a:r>
            <a:r>
              <a:rPr lang="en-US" sz="1600" dirty="0"/>
              <a:t>, </a:t>
            </a:r>
            <a:r>
              <a:rPr lang="en-US" sz="1600" b="1" dirty="0"/>
              <a:t>WAF</a:t>
            </a:r>
            <a:r>
              <a:rPr lang="en-US" sz="1600" dirty="0"/>
              <a:t>, </a:t>
            </a:r>
            <a:r>
              <a:rPr lang="en-US" sz="1600" b="1" dirty="0" err="1"/>
              <a:t>GuardDuty</a:t>
            </a:r>
            <a:r>
              <a:rPr lang="en-US" sz="1600" dirty="0"/>
              <a:t>, </a:t>
            </a:r>
            <a:r>
              <a:rPr lang="en-US" sz="1600" b="1" dirty="0"/>
              <a:t>KMS</a:t>
            </a:r>
            <a:r>
              <a:rPr lang="en-US" sz="1600" dirty="0"/>
              <a:t>, </a:t>
            </a:r>
            <a:r>
              <a:rPr lang="en-US" sz="1600" b="1" dirty="0"/>
              <a:t>Secrets Manager</a:t>
            </a:r>
            <a:r>
              <a:rPr lang="en-US" sz="1600" dirty="0"/>
              <a:t> for comprehensive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5585</Words>
  <Application>Microsoft Office PowerPoint</Application>
  <PresentationFormat>Widescreen</PresentationFormat>
  <Paragraphs>971</Paragraphs>
  <Slides>53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Courier New</vt:lpstr>
      <vt:lpstr>Wingdings</vt:lpstr>
      <vt:lpstr>Office Theme</vt:lpstr>
      <vt:lpstr>AWS Core Architecture &amp;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Multi-Region vs Single-Region Architecture</vt:lpstr>
      <vt:lpstr>When to Use Multiple Regions</vt:lpstr>
      <vt:lpstr>Multi-AZ Deployment for High Availability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77</cp:revision>
  <dcterms:created xsi:type="dcterms:W3CDTF">2025-11-27T20:35:07Z</dcterms:created>
  <dcterms:modified xsi:type="dcterms:W3CDTF">2026-01-25T14:25:30Z</dcterms:modified>
</cp:coreProperties>
</file>