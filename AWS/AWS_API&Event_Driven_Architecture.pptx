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60" r:id="rId3"/>
    <p:sldId id="262" r:id="rId4"/>
    <p:sldId id="322" r:id="rId5"/>
    <p:sldId id="264" r:id="rId6"/>
    <p:sldId id="323" r:id="rId7"/>
    <p:sldId id="333" r:id="rId8"/>
    <p:sldId id="297" r:id="rId9"/>
    <p:sldId id="313" r:id="rId10"/>
    <p:sldId id="324" r:id="rId11"/>
    <p:sldId id="325" r:id="rId12"/>
    <p:sldId id="337" r:id="rId13"/>
    <p:sldId id="317" r:id="rId14"/>
    <p:sldId id="316" r:id="rId15"/>
    <p:sldId id="328" r:id="rId16"/>
    <p:sldId id="335" r:id="rId17"/>
    <p:sldId id="33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307C2-D910-4122-9388-FE9DC4B9E077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B5C-0485-4D3A-8470-D55704130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458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F4A65-1FA7-291B-CE8C-5E6D20486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FDADB-2DCA-C35F-B7C3-7968810EF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AFEAB-3CEB-BA30-11AC-5EE8D7934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C3666-AA39-F7C0-B759-50412EAB7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573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932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7B5-AB3C-6853-3020-8499E51E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C760-601E-C01A-83EB-B6F59015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9CFD-76DF-6EDE-0574-10C8AFFE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C349-EC93-3345-E79F-01D534DE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533E-01D7-E5BF-0584-FFC7CC6F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B090-87E1-CCF9-6475-B8847162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B680-C86A-1B9F-83AD-36EC89E6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04CF-B360-A13E-2209-2F3DA4D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D3FA-50BB-5ADF-DF76-E02F890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3D35-A12B-08B7-E41C-40024C9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02C4-968D-1AFE-5974-AD015A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B0EF-A72D-603A-596F-892520DB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68F-0D68-B085-00CD-18E9F845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7CDF-B5F7-857A-E6C5-AB98DF7C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37E3-A2FC-D19D-1A1C-004D03C1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7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4844-A2DB-FC70-F7D9-9EAA0748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34C-A81C-6791-BFF7-52891BA9C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6BF7-69DD-D7BF-35E2-3209B44C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1C55-4FB2-C431-6A44-266A642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C4614-A653-A51E-8737-80865E97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FCDBC-251C-83B2-B970-F2BAE4C0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0A67-A38A-F132-F66F-8AD9EB8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CD0A-75F4-92E0-AD22-C46DB2AC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3F6C-3D5D-E867-8F8D-93B1B76C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DA4-6607-1D5D-4C91-C38CD2DD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CCFBC-5B82-395F-66DB-B91CB8424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38F0-E2D5-431E-CF92-079D064A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60B8-4C9B-7283-B2BC-4993DC3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5BCA5-77A5-F52B-7DF6-DB6A2517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E92-4D52-DB9D-4183-4CB4FC4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CFFBB-6B8F-595A-11FF-B14CA05B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E9C03-DF04-FA0F-4F98-F4EAA0B0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12BEC-790F-BF6E-35D7-E22F1A9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A0185-DC9B-4F35-B193-63B53E8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876B6-0581-8C27-94C6-4A70E737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D17D-92E7-FF8F-0436-91762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E36-5D48-6E19-2A80-57AE6ADC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5833-2DDA-39DF-1B95-12B60A8F9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3F8A1-3DE6-E79D-F31B-3EB59399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5CBF-38CB-85CD-88E1-E2483D6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3BF7-8E2E-76E7-0CDE-172BF6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932BF-5FD9-118C-9422-D177E9C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9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FB4E-3F56-1CCE-7E0A-0F10FFF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1140-9012-BA27-B2DD-21193138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3669-D5B4-D6EE-FD65-1C1499098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6B2D-3478-2904-F778-34B5D9FC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8670-C314-09D4-8397-F904486C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84F0-ED14-9F17-4188-850429C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6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B4A7-2EF5-4A22-DCB3-BDE1BB7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89C9B-211C-DA9D-ACE2-907197D5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D562-5F50-A1E9-A0F3-288E2D26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C7DB-BC0A-20E2-91FA-5325B8F3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156-5965-FB52-AF4A-5E7A2D0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ABFD9-D75E-1C78-7078-CF86DDAEB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4D4E-AC9E-415C-FE11-AD708D49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B691-C120-7EE8-B061-1E9DF04C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710-EC21-4160-8E3B-32635D81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2294-4701-3F0D-635F-8158E74F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275D0-4C49-5220-9340-21B7ACF0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9D230-D813-A0D2-DE18-887B50D3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42A6-BE30-D2B9-25F4-383EFB8A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7DFC-8711-4557-8CA1-4C836922276B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33E5-920A-98B4-A35B-FB316DF0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C48F-10B5-A34D-9F2B-696595BA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2188028" y="2068973"/>
            <a:ext cx="8218711" cy="237239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AWS API &amp; Event Driven Architecture</a:t>
            </a:r>
          </a:p>
        </p:txBody>
      </p:sp>
      <p:sp>
        <p:nvSpPr>
          <p:cNvPr id="7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3901" y="2068286"/>
            <a:ext cx="969041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API &amp; Event-Driven Architecture Fundamentals</a:t>
            </a:r>
          </a:p>
          <a:p>
            <a:pPr>
              <a:defRPr sz="4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b="1" dirty="0"/>
              <a:t>Learning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API-driven vs Event-driven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when to use synchronous vs asynchronous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Explore common API &amp; EDA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 how to implement these patterns on AWS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Review anti-patterns &amp; best practices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dirty="0"/>
              <a:t>The Evolution of Modern Architecture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444" y="1830418"/>
            <a:ext cx="2922814" cy="250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Monolith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Single deployable unit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Tightly coupled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Scalability limited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Long release cycles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3F470D-79A9-3F0D-B9CC-AB75D33FC69A}"/>
              </a:ext>
            </a:extLst>
          </p:cNvPr>
          <p:cNvSpPr txBox="1"/>
          <p:nvPr/>
        </p:nvSpPr>
        <p:spPr>
          <a:xfrm>
            <a:off x="4212773" y="1830418"/>
            <a:ext cx="3624941" cy="2819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Microservices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Independent deployable 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Technology flexibility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Can communicate via APIs or events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Reduces blast radius but introduces distributed complexity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09AD2-3A4E-474B-E527-6F46F65B11F4}"/>
              </a:ext>
            </a:extLst>
          </p:cNvPr>
          <p:cNvSpPr txBox="1"/>
          <p:nvPr/>
        </p:nvSpPr>
        <p:spPr>
          <a:xfrm>
            <a:off x="8278584" y="1830418"/>
            <a:ext cx="3145972" cy="2403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Event-Driven Microservices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Services communicate through asynchronous events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Highly decoupled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Reactive, scalable, resilient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8A3AA-F167-E46B-4064-40796873A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210BFB-421B-9B3D-8F1B-287EFB6CE910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Introduction to API Architecture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C1910-DB13-D4BF-A923-7AB7AA0730FC}"/>
              </a:ext>
            </a:extLst>
          </p:cNvPr>
          <p:cNvSpPr txBox="1"/>
          <p:nvPr/>
        </p:nvSpPr>
        <p:spPr>
          <a:xfrm>
            <a:off x="816428" y="1319435"/>
            <a:ext cx="10657114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What is an API?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Application Programming Interface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Contract between 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Enables communication between systems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Synchronous request-response pattern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Client waits for immediate response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93B3E2-D5CF-608D-0261-79A540E7E875}"/>
              </a:ext>
            </a:extLst>
          </p:cNvPr>
          <p:cNvSpPr txBox="1"/>
          <p:nvPr/>
        </p:nvSpPr>
        <p:spPr>
          <a:xfrm>
            <a:off x="947057" y="4376058"/>
            <a:ext cx="8218714" cy="92333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Basic Flow:</a:t>
            </a:r>
          </a:p>
          <a:p>
            <a:endParaRPr lang="en-IN" dirty="0"/>
          </a:p>
          <a:p>
            <a:r>
              <a:rPr lang="en-IN" dirty="0"/>
              <a:t>Client -&gt; API Endpoint -&gt; Backend Logic -&gt; Database -&gt; Response</a:t>
            </a:r>
          </a:p>
        </p:txBody>
      </p:sp>
    </p:spTree>
    <p:extLst>
      <p:ext uri="{BB962C8B-B14F-4D97-AF65-F5344CB8AC3E}">
        <p14:creationId xmlns:p14="http://schemas.microsoft.com/office/powerpoint/2010/main" val="3147212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1" y="274321"/>
            <a:ext cx="7192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Common API Architecture Patterns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557561" y="1240971"/>
            <a:ext cx="532072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Pattern 1: Basic Request-Response</a:t>
            </a:r>
          </a:p>
          <a:p>
            <a:endParaRPr lang="en-IN" b="1" dirty="0"/>
          </a:p>
          <a:p>
            <a:r>
              <a:rPr lang="en-IN" sz="1600" dirty="0"/>
              <a:t>Client -&gt; API Endpoint -&gt; Service -&gt; DB -&gt; Response</a:t>
            </a:r>
          </a:p>
          <a:p>
            <a:endParaRPr lang="en-US" sz="1200" dirty="0"/>
          </a:p>
          <a:p>
            <a:r>
              <a:rPr lang="en-IN" sz="1600" b="1" dirty="0"/>
              <a:t>Characteristics: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Client waits for immediate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Tight coupling between client and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Simple to understand and implement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Ideal for user-facing real-time interactions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/>
              <a:t>Use Cases: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User login/authentication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Fetching user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Search functionality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Real-time pricing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CRUD operations on business entities</a:t>
            </a:r>
            <a:endParaRPr lang="en-IN" sz="1600" dirty="0"/>
          </a:p>
          <a:p>
            <a:endParaRPr lang="en-IN" sz="1200" dirty="0"/>
          </a:p>
          <a:p>
            <a:endParaRPr lang="en-IN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C62102-B192-F928-322E-9E6E8FCAFF3C}"/>
              </a:ext>
            </a:extLst>
          </p:cNvPr>
          <p:cNvSpPr txBox="1"/>
          <p:nvPr/>
        </p:nvSpPr>
        <p:spPr>
          <a:xfrm>
            <a:off x="6411686" y="1240971"/>
            <a:ext cx="532072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Pattern 2: API Gateway Aggregation</a:t>
            </a:r>
          </a:p>
          <a:p>
            <a:endParaRPr lang="en-US" b="1" dirty="0"/>
          </a:p>
          <a:p>
            <a:r>
              <a:rPr lang="en-IN" sz="1600" dirty="0"/>
              <a:t>Multiple Clients -&gt; API Gateway -&gt; Multiple Backend Services</a:t>
            </a:r>
          </a:p>
          <a:p>
            <a:endParaRPr lang="en-IN" sz="1600" dirty="0"/>
          </a:p>
          <a:p>
            <a:r>
              <a:rPr lang="en-IN" sz="1600" b="1" dirty="0"/>
              <a:t>Characteristics: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Single unified entry point for all clients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Handles authentication/authorization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Rate limiting, throttling, caching, request/response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Decouples clients from the underlying microservices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/>
              <a:t>Use Cases: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Mobile apps needing aggregated backend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APIs consumed by external partners/vendors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Microservices-based applications with many backend services</a:t>
            </a:r>
            <a:endParaRPr lang="en-IN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CE3DF-5513-0F51-CD5F-21DE2D80E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6C64E7-0445-D594-251B-383D90533798}"/>
              </a:ext>
            </a:extLst>
          </p:cNvPr>
          <p:cNvSpPr txBox="1"/>
          <p:nvPr/>
        </p:nvSpPr>
        <p:spPr>
          <a:xfrm>
            <a:off x="457201" y="274321"/>
            <a:ext cx="9786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API Architecture on AWS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C71F4-52BC-AE84-65EA-A9412E4002AE}"/>
              </a:ext>
            </a:extLst>
          </p:cNvPr>
          <p:cNvSpPr txBox="1"/>
          <p:nvPr/>
        </p:nvSpPr>
        <p:spPr>
          <a:xfrm>
            <a:off x="533400" y="1164134"/>
            <a:ext cx="3535469" cy="451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en-IN" b="1" dirty="0"/>
              <a:t>ALB -&gt; EKS/ECS/EC2 -&gt; RDS / DynamoDB</a:t>
            </a:r>
          </a:p>
          <a:p>
            <a:pPr marL="342900" indent="-342900">
              <a:buAutoNum type="arabicParenR"/>
            </a:pPr>
            <a:endParaRPr lang="en-IN" sz="1400" b="1" dirty="0"/>
          </a:p>
          <a:p>
            <a:pPr>
              <a:lnSpc>
                <a:spcPct val="150000"/>
              </a:lnSpc>
            </a:pPr>
            <a:r>
              <a:rPr lang="en-IN" sz="1600" dirty="0"/>
              <a:t>Client -&gt; ALB -&gt; EKS / ECS tasks / EC2 -&gt; RDS / DynamoDB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Characteristics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Path or host-based routing (ALB)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Works natively with container workloads (ECS/EKS)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Sticky sessions, WAF, and built-in auth (ALB) available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Fully API-driven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9D4B4-1C8F-B33C-2455-9800E504F439}"/>
              </a:ext>
            </a:extLst>
          </p:cNvPr>
          <p:cNvSpPr txBox="1"/>
          <p:nvPr/>
        </p:nvSpPr>
        <p:spPr>
          <a:xfrm>
            <a:off x="4626429" y="1164134"/>
            <a:ext cx="3156857" cy="4093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2) API Gateway -&gt; Lambda (Serverless pattern)</a:t>
            </a:r>
          </a:p>
          <a:p>
            <a:endParaRPr lang="en-IN" sz="1050" dirty="0"/>
          </a:p>
          <a:p>
            <a:pPr>
              <a:lnSpc>
                <a:spcPct val="150000"/>
              </a:lnSpc>
            </a:pPr>
            <a:r>
              <a:rPr lang="en-IN" sz="1600" dirty="0"/>
              <a:t>Client -&gt; API Gateway -&gt; Lambda -&gt; DB/Services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Characteristics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Fully serverless, no infra to manage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Built-in throttling, auth, request/response transforms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Pay-per-invocation billing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985597-9AEB-3919-A38E-D6C7E843E965}"/>
              </a:ext>
            </a:extLst>
          </p:cNvPr>
          <p:cNvSpPr txBox="1"/>
          <p:nvPr/>
        </p:nvSpPr>
        <p:spPr>
          <a:xfrm>
            <a:off x="8340846" y="1164134"/>
            <a:ext cx="3156857" cy="5571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3) API Gateway -&gt; ALB / NLB -&gt; EC2 / ECS / EKS</a:t>
            </a:r>
          </a:p>
          <a:p>
            <a:endParaRPr lang="en-IN" sz="1050" b="1" dirty="0"/>
          </a:p>
          <a:p>
            <a:pPr>
              <a:lnSpc>
                <a:spcPct val="150000"/>
              </a:lnSpc>
            </a:pPr>
            <a:r>
              <a:rPr lang="en-IN" sz="1600" dirty="0"/>
              <a:t>Client -&gt; API Gateway (Rest API) -&gt; ALB/NLB -&gt; EC2 / ECS / EKS -&gt; DB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Characteristics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API Gateway stays the public entry (auth, throttling, analytics)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ALB / NLB perform the actual service routing inside VPC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Combine API Gateway features (authorization, stages, throttling) with LBs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Keep backend services private (not exposed directly)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997022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434DB-3CB5-E6BF-FC59-5855E1662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0F6F85-BA85-8ED1-E7C2-9C642F03FA07}"/>
              </a:ext>
            </a:extLst>
          </p:cNvPr>
          <p:cNvSpPr txBox="1"/>
          <p:nvPr/>
        </p:nvSpPr>
        <p:spPr>
          <a:xfrm>
            <a:off x="457201" y="274321"/>
            <a:ext cx="9786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/>
              <a:t>Production-Grade API Architecture on AWS</a:t>
            </a:r>
            <a:endParaRPr lang="en-US" sz="3600" dirty="0"/>
          </a:p>
        </p:txBody>
      </p:sp>
      <p:pic>
        <p:nvPicPr>
          <p:cNvPr id="7" name="Picture 6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93F313B8-0CCE-3377-734F-9CC858DA2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4"/>
          <a:stretch>
            <a:fillRect/>
          </a:stretch>
        </p:blipFill>
        <p:spPr>
          <a:xfrm>
            <a:off x="696686" y="1295399"/>
            <a:ext cx="3853543" cy="51564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ED61CF-B04D-52AC-866A-B914B58A97E9}"/>
              </a:ext>
            </a:extLst>
          </p:cNvPr>
          <p:cNvSpPr txBox="1"/>
          <p:nvPr/>
        </p:nvSpPr>
        <p:spPr>
          <a:xfrm>
            <a:off x="5453743" y="1175657"/>
            <a:ext cx="5704114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Characteristics:</a:t>
            </a:r>
          </a:p>
          <a:p>
            <a:endParaRPr lang="en-US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CloudFront</a:t>
            </a:r>
            <a:r>
              <a:rPr lang="en-US" dirty="0"/>
              <a:t> improves global performance and caches API responses when applicable.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API Gateway or ALB</a:t>
            </a:r>
            <a:r>
              <a:rPr lang="en-US" dirty="0"/>
              <a:t> serves as the unified API front door depending on use case (serverless vs containers).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Cognito</a:t>
            </a:r>
            <a:r>
              <a:rPr lang="en-US" dirty="0"/>
              <a:t> provides secure user authentication (OAuth2, JWT tokens).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WAF</a:t>
            </a:r>
            <a:r>
              <a:rPr lang="en-US" dirty="0"/>
              <a:t> protects against common web attacks (OWASP Top 10).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Lambda Authorizers</a:t>
            </a:r>
            <a:r>
              <a:rPr lang="en-US" dirty="0"/>
              <a:t> or custom auth services allow fine-grained authorization logic.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Microservices</a:t>
            </a:r>
            <a:r>
              <a:rPr lang="en-US" dirty="0"/>
              <a:t> can run on Lambda, ECS/Fargate, or EKS based on compute needs.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Databases</a:t>
            </a:r>
            <a:r>
              <a:rPr lang="en-US" dirty="0"/>
              <a:t> store application state, using DynamoDB for serverless or RDS for relational workloads.</a:t>
            </a:r>
          </a:p>
        </p:txBody>
      </p:sp>
    </p:spTree>
    <p:extLst>
      <p:ext uri="{BB962C8B-B14F-4D97-AF65-F5344CB8AC3E}">
        <p14:creationId xmlns:p14="http://schemas.microsoft.com/office/powerpoint/2010/main" val="2023419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3ABD-CDFE-468A-71A1-775989AAB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0CBD49-4F8A-5A0E-D9DC-53AB1CF12AB0}"/>
              </a:ext>
            </a:extLst>
          </p:cNvPr>
          <p:cNvSpPr txBox="1"/>
          <p:nvPr/>
        </p:nvSpPr>
        <p:spPr>
          <a:xfrm>
            <a:off x="936172" y="274321"/>
            <a:ext cx="100692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Introduction to Event-Driven Architecture (EDA)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790A-5A6E-D622-522F-1ADDBB7B4207}"/>
              </a:ext>
            </a:extLst>
          </p:cNvPr>
          <p:cNvSpPr txBox="1"/>
          <p:nvPr/>
        </p:nvSpPr>
        <p:spPr>
          <a:xfrm>
            <a:off x="936172" y="1358537"/>
            <a:ext cx="908086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Event-Driven Architecture?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Systems communicate through events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Producers emit events, consumers react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Decoupled components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Asynchronous by nature</a:t>
            </a:r>
          </a:p>
          <a:p>
            <a:br>
              <a:rPr lang="en-US" sz="1400" dirty="0"/>
            </a:br>
            <a:r>
              <a:rPr lang="en-US" b="1" dirty="0"/>
              <a:t>Core Concepts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Event</a:t>
            </a:r>
            <a:r>
              <a:rPr lang="en-US" sz="1600" dirty="0"/>
              <a:t> an immutable fact (“</a:t>
            </a:r>
            <a:r>
              <a:rPr lang="en-US" sz="1600" dirty="0" err="1"/>
              <a:t>OrderPlaced</a:t>
            </a:r>
            <a:r>
              <a:rPr lang="en-US" sz="1600" dirty="0"/>
              <a:t>”, “</a:t>
            </a:r>
            <a:r>
              <a:rPr lang="en-US" sz="1600" dirty="0" err="1"/>
              <a:t>UserRegistered</a:t>
            </a:r>
            <a:r>
              <a:rPr lang="en-US" sz="1600" dirty="0"/>
              <a:t>”)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Producer</a:t>
            </a:r>
            <a:r>
              <a:rPr lang="en-US" sz="1600" dirty="0"/>
              <a:t> emits event, unaware of consumers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Consumer</a:t>
            </a:r>
            <a:r>
              <a:rPr lang="en-US" sz="1600" dirty="0"/>
              <a:t> listens &amp; reacts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Event Bus/Broker</a:t>
            </a:r>
            <a:r>
              <a:rPr lang="en-US" sz="1600" dirty="0"/>
              <a:t> routes events (</a:t>
            </a:r>
            <a:r>
              <a:rPr lang="en-US" sz="1600" dirty="0" err="1"/>
              <a:t>EventBridge</a:t>
            </a:r>
            <a:r>
              <a:rPr lang="en-US" sz="1600" dirty="0"/>
              <a:t>, SNS, SQS, kinesis)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61982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C1AD-FF22-CA6A-A7CE-3A6587429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9344D9-E5B3-1520-30F1-70FD6F4560E6}"/>
              </a:ext>
            </a:extLst>
          </p:cNvPr>
          <p:cNvSpPr txBox="1"/>
          <p:nvPr/>
        </p:nvSpPr>
        <p:spPr>
          <a:xfrm>
            <a:off x="859971" y="274321"/>
            <a:ext cx="100366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Benefits of Event-Driven Architecture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52BDDD-E106-BEFB-F00E-C189E48FCD3E}"/>
              </a:ext>
            </a:extLst>
          </p:cNvPr>
          <p:cNvSpPr txBox="1"/>
          <p:nvPr/>
        </p:nvSpPr>
        <p:spPr>
          <a:xfrm>
            <a:off x="1045030" y="894573"/>
            <a:ext cx="9470571" cy="5224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Loose Coupling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Services don't need to know about each other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Easy to add/remove consumers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Changes don't cascade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Scalability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Scale producers and consumers independently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Handle traffic spikes with queues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Parallel processing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Resilience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Failures isolated to individual components, No cascading failures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Retry mechanisms built-in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Flexibility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Easy to add new features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Multiple consumers can react differently</a:t>
            </a:r>
          </a:p>
        </p:txBody>
      </p:sp>
    </p:spTree>
    <p:extLst>
      <p:ext uri="{BB962C8B-B14F-4D97-AF65-F5344CB8AC3E}">
        <p14:creationId xmlns:p14="http://schemas.microsoft.com/office/powerpoint/2010/main" val="1710586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16FB6-8C11-413E-1391-10A1F7446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ED8AF3-1980-8607-621C-B17110F7FCFC}"/>
              </a:ext>
            </a:extLst>
          </p:cNvPr>
          <p:cNvSpPr txBox="1"/>
          <p:nvPr/>
        </p:nvSpPr>
        <p:spPr>
          <a:xfrm>
            <a:off x="457201" y="274321"/>
            <a:ext cx="10395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Common Event-Driven Architecture Patterns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E2A0BF-69C7-2954-3DE3-C3D778770480}"/>
              </a:ext>
            </a:extLst>
          </p:cNvPr>
          <p:cNvSpPr txBox="1"/>
          <p:nvPr/>
        </p:nvSpPr>
        <p:spPr>
          <a:xfrm>
            <a:off x="535790" y="1099456"/>
            <a:ext cx="503769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 1. Pub/Sub (Publish-Subscribe) Pattern: </a:t>
            </a:r>
            <a:r>
              <a:rPr lang="en-US" sz="1600" b="1" dirty="0"/>
              <a:t>Notify multiple services of an event.</a:t>
            </a:r>
            <a:endParaRPr lang="en-IN" sz="1600" dirty="0"/>
          </a:p>
          <a:p>
            <a:pPr>
              <a:spcBef>
                <a:spcPts val="600"/>
              </a:spcBef>
            </a:pPr>
            <a:r>
              <a:rPr lang="en-US" sz="1600" dirty="0"/>
              <a:t>Publisher -&gt; Topic/Event Bus -&gt; Multiple Subscribers</a:t>
            </a:r>
            <a:endParaRPr lang="en-IN" sz="1600" dirty="0"/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Characteristics: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One-to-many communication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Publishers don't know subscribers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All subscribers receive all messages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Real-time delivery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Example:</a:t>
            </a: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dirty="0"/>
              <a:t>Order Service (Producer) publishes “</a:t>
            </a:r>
            <a:r>
              <a:rPr lang="en-IN" sz="1600" b="1" dirty="0" err="1"/>
              <a:t>OrderPlaced</a:t>
            </a:r>
            <a:r>
              <a:rPr lang="en-IN" sz="1600" b="1" dirty="0"/>
              <a:t>”</a:t>
            </a:r>
            <a:r>
              <a:rPr lang="en-IN" sz="1600" dirty="0"/>
              <a:t> event &amp; subscribers receives it and work as per their business </a:t>
            </a:r>
            <a:r>
              <a:rPr lang="en-IN" sz="1600" dirty="0" err="1"/>
              <a:t>req</a:t>
            </a:r>
            <a:r>
              <a:rPr lang="en-IN" sz="1600" dirty="0"/>
              <a:t>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Inventory Service (updates stock)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Email Service (sends confirmation)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Analytics Service (tracks metrics)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Shipping Service (creates label)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E38611-226E-7793-F63F-CA2BB5B8CD51}"/>
              </a:ext>
            </a:extLst>
          </p:cNvPr>
          <p:cNvSpPr txBox="1"/>
          <p:nvPr/>
        </p:nvSpPr>
        <p:spPr>
          <a:xfrm>
            <a:off x="6411686" y="1099456"/>
            <a:ext cx="4876800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2. Fan-Out Pattern: </a:t>
            </a:r>
            <a:r>
              <a:rPr lang="en-US" sz="1600" b="1" dirty="0"/>
              <a:t>Execute multiple parallel processing tasks from one event.</a:t>
            </a: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dirty="0"/>
              <a:t>Single Event -&gt; Multiple Parallel Processors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Characteristics</a:t>
            </a:r>
            <a:r>
              <a:rPr lang="en-IN" sz="1600" dirty="0"/>
              <a:t>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Parallel processing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Independent consumers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Each consumer has own queue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No blocking</a:t>
            </a:r>
            <a:br>
              <a:rPr lang="en-IN" sz="1600" dirty="0"/>
            </a:b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Example: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Image Upload Event triggers following processing in parallel: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Thumbnail Generator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Metadata Extractor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Virus Scanner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ML Image Classifier</a:t>
            </a:r>
          </a:p>
        </p:txBody>
      </p:sp>
    </p:spTree>
    <p:extLst>
      <p:ext uri="{BB962C8B-B14F-4D97-AF65-F5344CB8AC3E}">
        <p14:creationId xmlns:p14="http://schemas.microsoft.com/office/powerpoint/2010/main" val="4035669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33AE2-F6CB-9012-C9F4-E517FDCC5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AFAA5B-4EEA-B082-D3AC-1C6C97C3FC45}"/>
              </a:ext>
            </a:extLst>
          </p:cNvPr>
          <p:cNvSpPr txBox="1"/>
          <p:nvPr/>
        </p:nvSpPr>
        <p:spPr>
          <a:xfrm>
            <a:off x="457201" y="274321"/>
            <a:ext cx="9786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AWS EDA Reference Architectures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5F385-6290-D7E3-744E-D570A50831B4}"/>
              </a:ext>
            </a:extLst>
          </p:cNvPr>
          <p:cNvSpPr txBox="1"/>
          <p:nvPr/>
        </p:nvSpPr>
        <p:spPr>
          <a:xfrm>
            <a:off x="555171" y="1305342"/>
            <a:ext cx="520337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1) Central Event Bus Architecture (</a:t>
            </a:r>
            <a:r>
              <a:rPr lang="en-IN" sz="1600" b="1" dirty="0" err="1"/>
              <a:t>EventBridge</a:t>
            </a:r>
            <a:r>
              <a:rPr lang="en-IN" sz="1600" b="1" dirty="0"/>
              <a:t>)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Flow:</a:t>
            </a:r>
            <a:br>
              <a:rPr lang="en-IN" sz="1600" dirty="0"/>
            </a:br>
            <a:r>
              <a:rPr lang="en-IN" sz="1600" dirty="0"/>
              <a:t>Producers -&gt; </a:t>
            </a:r>
            <a:r>
              <a:rPr lang="en-IN" sz="1600" b="1" dirty="0" err="1"/>
              <a:t>EventBridge</a:t>
            </a:r>
            <a:r>
              <a:rPr lang="en-IN" sz="1600" b="1" dirty="0"/>
              <a:t> Bus</a:t>
            </a:r>
            <a:r>
              <a:rPr lang="en-IN" sz="1600" dirty="0"/>
              <a:t> -&gt; Rules / Filtering -&gt; Consumers (Lambda, Step Functions, SQS, API Destinations, etc.)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Characteristics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Centralized event routing and governance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Supports event filtering, transformation, schema registry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Loose coupling between producers and consumers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Native integration with most AWS services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Enables multi-account event ingestion using </a:t>
            </a:r>
            <a:r>
              <a:rPr lang="en-IN" sz="1600" dirty="0" err="1"/>
              <a:t>EventBridge</a:t>
            </a:r>
            <a:r>
              <a:rPr lang="en-IN" sz="1600" dirty="0"/>
              <a:t> Bus policies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Ideal for large-scale enterprise event-driven communication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999FAD-D083-3C71-B9DD-09514091DE25}"/>
              </a:ext>
            </a:extLst>
          </p:cNvPr>
          <p:cNvSpPr txBox="1"/>
          <p:nvPr/>
        </p:nvSpPr>
        <p:spPr>
          <a:xfrm>
            <a:off x="6291943" y="1305342"/>
            <a:ext cx="5557158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2) SNS -&gt; SQS Fan-Out Pattern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Flow:</a:t>
            </a:r>
            <a:br>
              <a:rPr lang="en-IN" sz="1600" dirty="0"/>
            </a:br>
            <a:r>
              <a:rPr lang="en-IN" sz="1600" dirty="0"/>
              <a:t>SNS Topic -&gt; </a:t>
            </a:r>
            <a:r>
              <a:rPr lang="en-IN" sz="1600" b="1" dirty="0"/>
              <a:t>Multiple SQS Queues</a:t>
            </a:r>
            <a:r>
              <a:rPr lang="en-IN" sz="1600" dirty="0"/>
              <a:t> -&gt; Multiple Consumers (Lambda / ECS / EKS)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Characteristics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Classic fan-out pattern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High throughput and simple to implement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Reliable delivery with SQS decoupling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Each consumer gets its own copy of the event (guaranteed isolation)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Supports retries, buffering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Ideal for parallel processing, broadcast notifications, async workloads</a:t>
            </a:r>
          </a:p>
        </p:txBody>
      </p:sp>
    </p:spTree>
    <p:extLst>
      <p:ext uri="{BB962C8B-B14F-4D97-AF65-F5344CB8AC3E}">
        <p14:creationId xmlns:p14="http://schemas.microsoft.com/office/powerpoint/2010/main" val="734958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8B804-321A-E601-4688-73AC3C856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EC6262-A703-21BB-C5E8-8A0419EB9341}"/>
              </a:ext>
            </a:extLst>
          </p:cNvPr>
          <p:cNvSpPr txBox="1"/>
          <p:nvPr/>
        </p:nvSpPr>
        <p:spPr>
          <a:xfrm>
            <a:off x="859971" y="274321"/>
            <a:ext cx="10450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Synchronous vs Asynchronous Pattern Decision Guide</a:t>
            </a:r>
            <a:endParaRPr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1E1E1E-5CE9-6312-D1D7-3E0F69F37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368600"/>
              </p:ext>
            </p:extLst>
          </p:nvPr>
        </p:nvGraphicFramePr>
        <p:xfrm>
          <a:off x="859971" y="1160137"/>
          <a:ext cx="10776860" cy="5558937"/>
        </p:xfrm>
        <a:graphic>
          <a:graphicData uri="http://schemas.openxmlformats.org/drawingml/2006/table">
            <a:tbl>
              <a:tblPr firstRow="1" firstCol="1">
                <a:tableStyleId>{69012ECD-51FC-41F1-AA8D-1B2483CD663E}</a:tableStyleId>
              </a:tblPr>
              <a:tblGrid>
                <a:gridCol w="2754086">
                  <a:extLst>
                    <a:ext uri="{9D8B030D-6E8A-4147-A177-3AD203B41FA5}">
                      <a16:colId xmlns:a16="http://schemas.microsoft.com/office/drawing/2014/main" val="274997008"/>
                    </a:ext>
                  </a:extLst>
                </a:gridCol>
                <a:gridCol w="2373086">
                  <a:extLst>
                    <a:ext uri="{9D8B030D-6E8A-4147-A177-3AD203B41FA5}">
                      <a16:colId xmlns:a16="http://schemas.microsoft.com/office/drawing/2014/main" val="1815313822"/>
                    </a:ext>
                  </a:extLst>
                </a:gridCol>
                <a:gridCol w="2275114">
                  <a:extLst>
                    <a:ext uri="{9D8B030D-6E8A-4147-A177-3AD203B41FA5}">
                      <a16:colId xmlns:a16="http://schemas.microsoft.com/office/drawing/2014/main" val="1994821928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475171084"/>
                    </a:ext>
                  </a:extLst>
                </a:gridCol>
                <a:gridCol w="1393374">
                  <a:extLst>
                    <a:ext uri="{9D8B030D-6E8A-4147-A177-3AD203B41FA5}">
                      <a16:colId xmlns:a16="http://schemas.microsoft.com/office/drawing/2014/main" val="844854849"/>
                    </a:ext>
                  </a:extLst>
                </a:gridCol>
              </a:tblGrid>
              <a:tr h="414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Scenario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Synchronous (API/Request-Response)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Asynchronous (Event-Driven)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Hybrid (Best Practice)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Recommended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204945286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User needs immediate result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✅ Return data directly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❌ Can't wait for result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1987125546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Quick operation (&lt;3 sec)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Simple, direct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Unnecessary complexity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636946752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Medium operation (3-30 sec)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User waits (bad UX)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✅ Return job ID, process later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Ack + async process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Hybrid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079075459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Long operation (&gt;30 sec)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❌ Timeout issues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Background processing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Job ID + status polling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Hybrid</a:t>
                      </a:r>
                      <a:endParaRPr lang="en-IN" sz="1200" dirty="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253150554"/>
                  </a:ext>
                </a:extLst>
              </a:tr>
              <a:tr h="414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Simple CRUD (Create/Read/Update/Delete)</a:t>
                      </a:r>
                      <a:endParaRPr lang="en-US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User needs confirmation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Overkill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1345159393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Multiple systems need same data</a:t>
                      </a:r>
                      <a:endParaRPr lang="en-US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Must call each system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Publish once, N subscribers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API + publish event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Async</a:t>
                      </a:r>
                      <a:r>
                        <a:rPr lang="en-IN" sz="1200" dirty="0"/>
                        <a:t> or </a:t>
                      </a:r>
                      <a:r>
                        <a:rPr lang="en-IN" sz="1200" b="1" dirty="0"/>
                        <a:t>Hybrid</a:t>
                      </a:r>
                      <a:endParaRPr lang="en-IN" sz="1200" dirty="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706167501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Loose coupling required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Caller knows callee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Decoupled via events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119373620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Tight coupling acceptable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Direct call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Unnecessary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705248568"/>
                  </a:ext>
                </a:extLst>
              </a:tr>
              <a:tr h="344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Order/sequence matters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✅ Step 1 → Step 2 → Step 3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✅ Event ordering (SQS FIFO)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Sync orchestration + async steps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Any</a:t>
                      </a:r>
                      <a:r>
                        <a:rPr lang="en-IN" sz="1200"/>
                        <a:t> (depends)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425276366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Parallel processing needed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❌ Sequential only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Fan-out pattern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Trigger parallel async tasks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07597054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User needs real-time updates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Polling (inefficient)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Push via WebSocket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WebSocket + async events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Hybrid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689052319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Background job (user doesn't wait)</a:t>
                      </a:r>
                      <a:endParaRPr lang="en-US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❌ Wrong pattern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Perfect fit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272864154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Retry needed on failure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Client must retry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Queue handles retries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Best of both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1904245731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Transaction (single database)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ACID transaction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Overkill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59285474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Predictable, steady load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Simple, direct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Added complexity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Sync</a:t>
                      </a:r>
                      <a:endParaRPr lang="en-IN" sz="1200" dirty="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791949372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Cost optimization</a:t>
                      </a:r>
                      <a:endParaRPr lang="en-IN" sz="1200" dirty="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Must handle all traffic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Process at own pace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Buffer with queue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1547006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Guaranteed delivery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Network issues lose data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Persisted in queue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503788360"/>
                  </a:ext>
                </a:extLst>
              </a:tr>
              <a:tr h="344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Immediate consistency required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✅ See result immediately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❌ Eventually consistent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980846296"/>
                  </a:ext>
                </a:extLst>
              </a:tr>
              <a:tr h="344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Eventual consistency acceptable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Unnecessary wait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Process when ready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Async</a:t>
                      </a:r>
                      <a:endParaRPr lang="en-IN" sz="1200" dirty="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300529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603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B48EA-D8CD-C3BA-3F5C-91203A2BC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0C0B8-5A41-320E-B4F6-F53684024BFB}"/>
              </a:ext>
            </a:extLst>
          </p:cNvPr>
          <p:cNvSpPr txBox="1"/>
          <p:nvPr/>
        </p:nvSpPr>
        <p:spPr>
          <a:xfrm>
            <a:off x="859971" y="274321"/>
            <a:ext cx="69949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Anti-Patterns to Avoid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B9BE61-B132-D611-DFED-A20E48061F01}"/>
              </a:ext>
            </a:extLst>
          </p:cNvPr>
          <p:cNvSpPr txBox="1"/>
          <p:nvPr/>
        </p:nvSpPr>
        <p:spPr>
          <a:xfrm>
            <a:off x="936172" y="1098229"/>
            <a:ext cx="8512627" cy="5224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Using events for everything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Simple queries don't need events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Adds unnecessary complexity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Harder to debug</a:t>
            </a:r>
          </a:p>
          <a:p>
            <a:pPr>
              <a:lnSpc>
                <a:spcPct val="150000"/>
              </a:lnSpc>
            </a:pPr>
            <a:br>
              <a:rPr lang="en-IN" sz="1600" dirty="0"/>
            </a:br>
            <a:r>
              <a:rPr lang="en-IN" sz="1600" b="1" dirty="0"/>
              <a:t>Using synchronous APIs for long processes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Timeouts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Poor user experience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Resource waste</a:t>
            </a:r>
          </a:p>
          <a:p>
            <a:pPr>
              <a:lnSpc>
                <a:spcPct val="150000"/>
              </a:lnSpc>
            </a:pPr>
            <a:br>
              <a:rPr lang="en-IN" sz="1600" dirty="0"/>
            </a:br>
            <a:r>
              <a:rPr lang="en-IN" sz="1600" b="1" dirty="0"/>
              <a:t>Mixing patterns without clear boundaries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Confusing architecture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Hard to maintain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Debugging nightmare</a:t>
            </a:r>
          </a:p>
        </p:txBody>
      </p:sp>
    </p:spTree>
    <p:extLst>
      <p:ext uri="{BB962C8B-B14F-4D97-AF65-F5344CB8AC3E}">
        <p14:creationId xmlns:p14="http://schemas.microsoft.com/office/powerpoint/2010/main" val="3673385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710D2-43C1-5562-41F2-12F284540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792B3F-DE23-A3C7-4A5F-49C2C944DA50}"/>
              </a:ext>
            </a:extLst>
          </p:cNvPr>
          <p:cNvSpPr txBox="1"/>
          <p:nvPr/>
        </p:nvSpPr>
        <p:spPr>
          <a:xfrm>
            <a:off x="859971" y="274321"/>
            <a:ext cx="10689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Knowledge Check - Suggest Possible Architecture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B69FC-478C-7E96-11A9-9E98C4590DB4}"/>
              </a:ext>
            </a:extLst>
          </p:cNvPr>
          <p:cNvSpPr txBox="1"/>
          <p:nvPr/>
        </p:nvSpPr>
        <p:spPr>
          <a:xfrm>
            <a:off x="859971" y="1740487"/>
            <a:ext cx="3603171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Hybrid Order Workflow</a:t>
            </a:r>
          </a:p>
          <a:p>
            <a:pPr marL="342900" indent="-342900">
              <a:buAutoNum type="arabicParenR"/>
            </a:pPr>
            <a:endParaRPr lang="en-IN" sz="16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600" dirty="0"/>
              <a:t>User places order (API synchronous) -&gt; Return order confirmation immediately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600" dirty="0"/>
              <a:t>Order placed event emitted (Event-driven)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Inventory service updates stock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Payment service processes payment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Shipping service creates label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Email service sends confirmation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8E3AFE-7200-6147-90B9-C24C3BB9C993}"/>
              </a:ext>
            </a:extLst>
          </p:cNvPr>
          <p:cNvSpPr txBox="1"/>
          <p:nvPr/>
        </p:nvSpPr>
        <p:spPr>
          <a:xfrm>
            <a:off x="4789713" y="1692310"/>
            <a:ext cx="3439886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Event-Driven Workflow</a:t>
            </a:r>
            <a:br>
              <a:rPr lang="en-IN" sz="1600" dirty="0"/>
            </a:br>
            <a:endParaRPr lang="en-IN" sz="16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600" dirty="0"/>
              <a:t>User creates post -&gt; Event: "</a:t>
            </a:r>
            <a:r>
              <a:rPr lang="en-IN" sz="1600" dirty="0" err="1"/>
              <a:t>PostCreated</a:t>
            </a:r>
            <a:r>
              <a:rPr lang="en-IN" sz="1600" dirty="0"/>
              <a:t>"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600" dirty="0"/>
              <a:t>Multiple consumers react: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Feed service updates followers' feeds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Notification service alerts mentioned users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Moderation service scans content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Search service indexes post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BE3AA1-104D-6B50-97B1-7115B3C04448}"/>
              </a:ext>
            </a:extLst>
          </p:cNvPr>
          <p:cNvSpPr txBox="1"/>
          <p:nvPr/>
        </p:nvSpPr>
        <p:spPr>
          <a:xfrm>
            <a:off x="8632372" y="1692310"/>
            <a:ext cx="2699657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API Workflow</a:t>
            </a:r>
            <a:br>
              <a:rPr lang="en-IN" sz="1600" dirty="0"/>
            </a:br>
            <a:endParaRPr lang="en-IN" sz="16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600" dirty="0"/>
              <a:t>User requests profile data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600" dirty="0"/>
              <a:t>API returns data immediately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600" dirty="0"/>
              <a:t>No background processing needed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600" dirty="0"/>
              <a:t>Simple, fast, predictable</a:t>
            </a:r>
          </a:p>
        </p:txBody>
      </p:sp>
    </p:spTree>
    <p:extLst>
      <p:ext uri="{BB962C8B-B14F-4D97-AF65-F5344CB8AC3E}">
        <p14:creationId xmlns:p14="http://schemas.microsoft.com/office/powerpoint/2010/main" val="859054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3C956-B182-5B20-5CA3-3F12A3A53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BFD7E-4179-E62E-FCAF-F317115F6964}"/>
              </a:ext>
            </a:extLst>
          </p:cNvPr>
          <p:cNvSpPr txBox="1"/>
          <p:nvPr/>
        </p:nvSpPr>
        <p:spPr>
          <a:xfrm>
            <a:off x="859971" y="274321"/>
            <a:ext cx="9900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Sample Solution: Hybrid Order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5ED8D3-CC2D-99D9-E5F1-3CF72113EBD5}"/>
              </a:ext>
            </a:extLst>
          </p:cNvPr>
          <p:cNvSpPr txBox="1"/>
          <p:nvPr/>
        </p:nvSpPr>
        <p:spPr>
          <a:xfrm>
            <a:off x="764524" y="1383870"/>
            <a:ext cx="5159828" cy="5032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Option A: Serverless hybrid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Flow 1 - Synchronous (Immediate Order Confirmation):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Client -&gt; API Gateway -&gt; Lambda (validate + persist order)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Lambda writes to DynamoDB/RDS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Lambda Returns confirmation to user 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pPr>
              <a:spcBef>
                <a:spcPts val="600"/>
              </a:spcBef>
            </a:pPr>
            <a:r>
              <a:rPr lang="en-IN" sz="1400" b="1" dirty="0"/>
              <a:t>Flow 2 - Asynchronous (Background Processing):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Lambda publishes </a:t>
            </a:r>
            <a:r>
              <a:rPr lang="en-US" sz="1400" dirty="0" err="1"/>
              <a:t>OrderPlaced</a:t>
            </a:r>
            <a:r>
              <a:rPr lang="en-US" sz="1400" dirty="0"/>
              <a:t> event to SNS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SNS fans out the event to multiple SQS queues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Each SQS queue triggers its own Lambda consumer: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SQS Queue: Inventory -&gt; Inventory Lambda (reserve stock)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SQS Queue: Payment -&gt; Payment Lambda (process payment)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SQS Queue: Shipping -&gt; Shipping Lambda (create label)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Email Notifications -&gt; SNS Email (direct push)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Each SQS queue has its own Lambda -&gt; enabling independent scaling and retries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SNS Email push is supported</a:t>
            </a:r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251A99-17EF-D0BE-3694-243A584129D0}"/>
              </a:ext>
            </a:extLst>
          </p:cNvPr>
          <p:cNvSpPr txBox="1"/>
          <p:nvPr/>
        </p:nvSpPr>
        <p:spPr>
          <a:xfrm>
            <a:off x="6401465" y="1383870"/>
            <a:ext cx="4855027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Option B: Container-based hybrid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pPr>
              <a:spcBef>
                <a:spcPts val="600"/>
              </a:spcBef>
            </a:pPr>
            <a:r>
              <a:rPr lang="en-IN" sz="1400" b="1" dirty="0"/>
              <a:t>Flow 1- Synchronous: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Client -&gt; ALB -&gt; EKS orders service -&gt; RDS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ALB routes requests to the orders service running on EKS.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Orders service validates and persists the order in RDS, then returns confirmation immediately.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Flow 2 – Asynchronous: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EKS Orders Service -&gt; put </a:t>
            </a:r>
            <a:r>
              <a:rPr lang="en-US" sz="1400" dirty="0" err="1"/>
              <a:t>OrderPlaced</a:t>
            </a:r>
            <a:r>
              <a:rPr lang="en-US" sz="1400" dirty="0"/>
              <a:t> event -&gt; </a:t>
            </a:r>
            <a:r>
              <a:rPr lang="en-US" sz="1400" dirty="0" err="1"/>
              <a:t>EventBridge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EventBridge</a:t>
            </a:r>
            <a:r>
              <a:rPr lang="en-US" sz="1400" dirty="0"/>
              <a:t> rules -&gt; SQS (Inventory) / SQS (Payment) / SQS (Shipping)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Each SQS -&gt; Worker pods on EKS consume and process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Optional: </a:t>
            </a:r>
            <a:r>
              <a:rPr lang="en-US" sz="1400" dirty="0" err="1"/>
              <a:t>EventBridge</a:t>
            </a:r>
            <a:r>
              <a:rPr lang="en-US" sz="1400" dirty="0"/>
              <a:t> -&gt; Lambda for Email or Analytics target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2819019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0A9BC-59C2-6140-5848-CA8242156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E4AD8C-309D-785A-3AD8-33E34F481E3F}"/>
              </a:ext>
            </a:extLst>
          </p:cNvPr>
          <p:cNvSpPr txBox="1"/>
          <p:nvPr/>
        </p:nvSpPr>
        <p:spPr>
          <a:xfrm>
            <a:off x="859971" y="274321"/>
            <a:ext cx="9900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Sample Solution: Event Driven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12296-049A-8B1E-50CF-B245780A20A6}"/>
              </a:ext>
            </a:extLst>
          </p:cNvPr>
          <p:cNvSpPr txBox="1"/>
          <p:nvPr/>
        </p:nvSpPr>
        <p:spPr>
          <a:xfrm>
            <a:off x="764524" y="1383870"/>
            <a:ext cx="5159828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Option A: </a:t>
            </a:r>
            <a:r>
              <a:rPr lang="en-IN" sz="1600" b="1" dirty="0" err="1"/>
              <a:t>EventBridge</a:t>
            </a:r>
            <a:r>
              <a:rPr lang="en-IN" sz="1600" b="1" dirty="0"/>
              <a:t> Centric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Flow:</a:t>
            </a:r>
            <a:endParaRPr lang="en-IN" sz="1400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Client -&gt; API Gateway -&gt; Lambda (create post record in DB) -&gt; publish </a:t>
            </a:r>
            <a:r>
              <a:rPr lang="en-IN" sz="1400" dirty="0" err="1"/>
              <a:t>PostCreated</a:t>
            </a:r>
            <a:r>
              <a:rPr lang="en-IN" sz="1400" dirty="0"/>
              <a:t> to </a:t>
            </a:r>
            <a:r>
              <a:rPr lang="en-IN" sz="1400" dirty="0" err="1"/>
              <a:t>EventBridge</a:t>
            </a:r>
            <a:endParaRPr lang="en-IN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 err="1"/>
              <a:t>EventBridge</a:t>
            </a:r>
            <a:r>
              <a:rPr lang="en-IN" sz="1400" dirty="0"/>
              <a:t> rules -&gt; targets:</a:t>
            </a:r>
          </a:p>
          <a:p>
            <a:pPr lvl="1">
              <a:spcBef>
                <a:spcPts val="600"/>
              </a:spcBef>
            </a:pPr>
            <a:r>
              <a:rPr lang="en-IN" sz="1400" dirty="0"/>
              <a:t>-&gt; Lambda Feed Service (updates followers feeds)</a:t>
            </a:r>
          </a:p>
          <a:p>
            <a:pPr lvl="1">
              <a:spcBef>
                <a:spcPts val="600"/>
              </a:spcBef>
            </a:pPr>
            <a:r>
              <a:rPr lang="en-IN" sz="1400" dirty="0"/>
              <a:t>-&gt; Lambda Notification Service (push)</a:t>
            </a:r>
          </a:p>
          <a:p>
            <a:pPr lvl="1">
              <a:spcBef>
                <a:spcPts val="600"/>
              </a:spcBef>
            </a:pPr>
            <a:r>
              <a:rPr lang="en-IN" sz="1400" dirty="0"/>
              <a:t>-&gt; Lambda Moderation Service (content scan)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Event: Lambda emits a </a:t>
            </a:r>
            <a:r>
              <a:rPr lang="en-US" sz="1400" b="1" dirty="0" err="1"/>
              <a:t>PostCreated</a:t>
            </a:r>
            <a:r>
              <a:rPr lang="en-US" sz="1400" dirty="0"/>
              <a:t> event to </a:t>
            </a:r>
            <a:r>
              <a:rPr lang="en-US" sz="1400" b="1" dirty="0" err="1"/>
              <a:t>EventBridge</a:t>
            </a:r>
            <a:r>
              <a:rPr lang="en-US" sz="1400" dirty="0"/>
              <a:t> with detail containing </a:t>
            </a:r>
            <a:r>
              <a:rPr lang="en-US" sz="1400" dirty="0" err="1"/>
              <a:t>postId</a:t>
            </a:r>
            <a:r>
              <a:rPr lang="en-US" sz="1400" dirty="0"/>
              <a:t>, </a:t>
            </a:r>
            <a:r>
              <a:rPr lang="en-US" sz="1400" dirty="0" err="1"/>
              <a:t>authorId</a:t>
            </a:r>
            <a:r>
              <a:rPr lang="en-US" sz="1400" dirty="0"/>
              <a:t>, content, mentions, tags, </a:t>
            </a:r>
            <a:r>
              <a:rPr lang="en-US" sz="1400" dirty="0" err="1"/>
              <a:t>createdAt</a:t>
            </a:r>
            <a:r>
              <a:rPr lang="en-US" sz="1400" dirty="0"/>
              <a:t>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EventBridge</a:t>
            </a:r>
            <a:r>
              <a:rPr lang="en-US" sz="1400" dirty="0"/>
              <a:t> rules evaluate the event payload (source, detail-type, detail fields) and route to multiple targets.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Multiple Lambda targets for Feed, Notification, Moderation: immediate processing.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E6667-4CAE-7E69-B1EC-A63BC6B4F189}"/>
              </a:ext>
            </a:extLst>
          </p:cNvPr>
          <p:cNvSpPr txBox="1"/>
          <p:nvPr/>
        </p:nvSpPr>
        <p:spPr>
          <a:xfrm>
            <a:off x="6401465" y="1383870"/>
            <a:ext cx="4855027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Option B: SNS to SQS fan-out</a:t>
            </a:r>
            <a:endParaRPr lang="en-IN" sz="1600" b="1" dirty="0"/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pPr>
              <a:spcBef>
                <a:spcPts val="600"/>
              </a:spcBef>
            </a:pPr>
            <a:r>
              <a:rPr lang="en-IN" sz="1400" b="1" dirty="0"/>
              <a:t>Flow: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 err="1"/>
              <a:t>PostCreated</a:t>
            </a:r>
            <a:r>
              <a:rPr lang="en-IN" sz="1400" dirty="0"/>
              <a:t> -&gt; SNS Topic -&gt; multiple SQS queues -&gt; separate Lambda / ECS workers</a:t>
            </a:r>
          </a:p>
          <a:p>
            <a:pPr lvl="1">
              <a:spcBef>
                <a:spcPts val="600"/>
              </a:spcBef>
            </a:pPr>
            <a:r>
              <a:rPr lang="en-IN" sz="1400" dirty="0"/>
              <a:t>  -&gt; SQS </a:t>
            </a:r>
            <a:r>
              <a:rPr lang="en-IN" sz="1400" dirty="0" err="1"/>
              <a:t>FeedQueue</a:t>
            </a:r>
            <a:r>
              <a:rPr lang="en-IN" sz="1400" dirty="0"/>
              <a:t> -&gt; Feed Worker (Lambda/ECS)</a:t>
            </a:r>
          </a:p>
          <a:p>
            <a:pPr lvl="1">
              <a:spcBef>
                <a:spcPts val="600"/>
              </a:spcBef>
            </a:pPr>
            <a:r>
              <a:rPr lang="en-IN" sz="1400" dirty="0"/>
              <a:t>  -&gt; SQS </a:t>
            </a:r>
            <a:r>
              <a:rPr lang="en-IN" sz="1400" dirty="0" err="1"/>
              <a:t>NotificationQueue</a:t>
            </a:r>
            <a:r>
              <a:rPr lang="en-IN" sz="1400" dirty="0"/>
              <a:t> -&gt; Notification Worker</a:t>
            </a:r>
          </a:p>
          <a:p>
            <a:pPr lvl="1">
              <a:spcBef>
                <a:spcPts val="600"/>
              </a:spcBef>
            </a:pPr>
            <a:r>
              <a:rPr lang="en-IN" sz="1400" dirty="0"/>
              <a:t>  -&gt; SQS </a:t>
            </a:r>
            <a:r>
              <a:rPr lang="en-IN" sz="1400" dirty="0" err="1"/>
              <a:t>ModerationQueue</a:t>
            </a:r>
            <a:r>
              <a:rPr lang="en-IN" sz="1400" dirty="0"/>
              <a:t> -&gt; Moderation Worker (may run ML)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SNS</a:t>
            </a:r>
            <a:r>
              <a:rPr lang="en-US" sz="1400" dirty="0"/>
              <a:t> receives the </a:t>
            </a:r>
            <a:r>
              <a:rPr lang="en-US" sz="1400" b="1" dirty="0" err="1"/>
              <a:t>PostCreated</a:t>
            </a:r>
            <a:r>
              <a:rPr lang="en-US" sz="1400" dirty="0"/>
              <a:t> publish call and </a:t>
            </a:r>
            <a:r>
              <a:rPr lang="en-US" sz="1400" b="1" dirty="0"/>
              <a:t>fans out </a:t>
            </a:r>
            <a:r>
              <a:rPr lang="en-US" sz="1400" dirty="0"/>
              <a:t>copies to each subscribed </a:t>
            </a:r>
            <a:r>
              <a:rPr lang="en-US" sz="1400" b="1" dirty="0"/>
              <a:t>SQS queue</a:t>
            </a:r>
            <a:r>
              <a:rPr lang="en-US" sz="1400" dirty="0"/>
              <a:t>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Each SQS queue provides durable buffering, retries, DLQs, visibility timeout configuration, and independent scaling.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Workers poll SQS and process messages; failures are retried automatically until </a:t>
            </a:r>
            <a:r>
              <a:rPr lang="en-US" sz="1400" dirty="0" err="1"/>
              <a:t>maxReceiveCount</a:t>
            </a:r>
            <a:r>
              <a:rPr lang="en-US" sz="1400" dirty="0"/>
              <a:t> then moved to DLQ.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Use FIFO SQS with </a:t>
            </a:r>
            <a:r>
              <a:rPr lang="en-US" sz="1400" dirty="0" err="1"/>
              <a:t>MessageGroupId</a:t>
            </a:r>
            <a:r>
              <a:rPr lang="en-US" sz="1400" dirty="0"/>
              <a:t> = </a:t>
            </a:r>
            <a:r>
              <a:rPr lang="en-US" sz="1400" dirty="0" err="1"/>
              <a:t>postId</a:t>
            </a:r>
            <a:r>
              <a:rPr lang="en-US" sz="1400" dirty="0"/>
              <a:t> if ordering per post is required (and throughput fits FIFO limits).</a:t>
            </a:r>
          </a:p>
        </p:txBody>
      </p:sp>
    </p:spTree>
    <p:extLst>
      <p:ext uri="{BB962C8B-B14F-4D97-AF65-F5344CB8AC3E}">
        <p14:creationId xmlns:p14="http://schemas.microsoft.com/office/powerpoint/2010/main" val="550250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00D38-306E-C958-6954-7665F4AC5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5380B0-AB9C-CAC4-9A4E-C36950B8F9BE}"/>
              </a:ext>
            </a:extLst>
          </p:cNvPr>
          <p:cNvSpPr txBox="1"/>
          <p:nvPr/>
        </p:nvSpPr>
        <p:spPr>
          <a:xfrm>
            <a:off x="859971" y="274321"/>
            <a:ext cx="9900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Sample Solution: API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217DAC-3779-5EC4-22B8-99D6777D0242}"/>
              </a:ext>
            </a:extLst>
          </p:cNvPr>
          <p:cNvSpPr txBox="1"/>
          <p:nvPr/>
        </p:nvSpPr>
        <p:spPr>
          <a:xfrm>
            <a:off x="764524" y="1383870"/>
            <a:ext cx="5159828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Option A: Serverless (</a:t>
            </a:r>
            <a:r>
              <a:rPr lang="en-US" sz="1600" b="1" dirty="0"/>
              <a:t>Recommended for simple/profile reads</a:t>
            </a:r>
            <a:r>
              <a:rPr lang="en-IN" sz="1600" b="1" dirty="0"/>
              <a:t>)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Flow: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Client -&gt; API Gateway -&gt; Lambda -&gt; DynamoDB (read profile) -&gt; Response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API Gateway receives the HTTP request and invokes a small Lambda that reads the profile from DynamoDB and returns it.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Auto-scales end-to-end (API Gateway + Lambda + DynamoDB). Ideal for unpredictable or bursty traffic.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3A8170-5913-B8B2-7C5E-ECF99F188B4B}"/>
              </a:ext>
            </a:extLst>
          </p:cNvPr>
          <p:cNvSpPr txBox="1"/>
          <p:nvPr/>
        </p:nvSpPr>
        <p:spPr>
          <a:xfrm>
            <a:off x="6401465" y="1383870"/>
            <a:ext cx="4855027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Option B: Container-based </a:t>
            </a:r>
            <a:r>
              <a:rPr lang="en-US" sz="1600" b="1" dirty="0"/>
              <a:t>(Recommended for relational/complex queries)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Flow:</a:t>
            </a:r>
            <a:endParaRPr lang="en-IN" sz="1400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Client -&gt; ALB -&gt; EKS/ECS -&gt; RDS -&gt; Response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ALB routes the request to a containerized profile service running in EKS/ECS.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The service queries RDS (Postgres/MySQL) and returns the profile.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Good for complex relational queries, joins, and transactions. Predictable latency when services are warm.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Scale via pod/Task autoscaling and RDS sizing/replicas; better for steady, high-throughput workloads but requires cluster/DB capacity planning.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11872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3949</TotalTime>
  <Words>2099</Words>
  <Application>Microsoft Office PowerPoint</Application>
  <PresentationFormat>Widescreen</PresentationFormat>
  <Paragraphs>388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AWS API &amp; Event Driven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KubeCraft Technologies</dc:creator>
  <cp:lastModifiedBy>KubeCraft Technologies</cp:lastModifiedBy>
  <cp:revision>59</cp:revision>
  <dcterms:created xsi:type="dcterms:W3CDTF">2025-11-27T20:35:07Z</dcterms:created>
  <dcterms:modified xsi:type="dcterms:W3CDTF">2026-02-01T14:00:10Z</dcterms:modified>
</cp:coreProperties>
</file>